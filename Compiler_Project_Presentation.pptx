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3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1547"/>
    <a:srgbClr val="0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5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6AEB5F-C861-4E73-A677-129CBD2D358D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C2544-7EB8-4C0C-A77F-CF23199B13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223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C2544-7EB8-4C0C-A77F-CF23199B135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211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5743E-DC95-708F-AFFB-5D6DFBEC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1B1C85-DEE2-5336-95B8-56AC3259C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92C46-DD12-E14A-FAE0-0D35AAC1F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5BB06-BF51-0FDB-2905-9211809D67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C2544-7EB8-4C0C-A77F-CF23199B1354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539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13044-D4F4-46D0-4A54-A08681B4EF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13E2C1-855D-E208-DFFD-3BB1665811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9762C-E796-BBDA-D957-EA28939FE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A16A-D45C-4A1B-8513-0F42FD8DD0EE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46A3C-5706-46A0-9201-8FE195CC4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7B076-F235-E3DF-38CA-48B8C33A7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34A60-6E71-416B-ACB1-E8A9AB2B5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380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1A0AF-F7EE-8112-2779-6C04473F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20E0B-F211-C28E-13B2-7304DCA0F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A3599-5E0F-B760-3EF1-F5DC5174A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A16A-D45C-4A1B-8513-0F42FD8DD0EE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EB81A-85DE-E0B4-331E-1B242D920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9EBA6-222A-281F-0E6E-ACA94B02F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34A60-6E71-416B-ACB1-E8A9AB2B5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573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79001-37E1-75A2-C8BF-1CBAD93BA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00FCD-8CED-87DF-30DB-4E5AF32C4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C97FF-1581-9579-377B-2196DD45F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A16A-D45C-4A1B-8513-0F42FD8DD0EE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9DDDE-C0C6-9D68-1761-45C161058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A5A15-DE2D-D74B-6C62-9DB14381C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34A60-6E71-416B-ACB1-E8A9AB2B5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205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524FD-A56A-64D7-67E7-66CD0798C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3C34D-6AB4-8A30-8EAC-DFC0D8CED9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30C1B7-CF2B-9B48-39EF-3A83F14C13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A368E-65D4-2D45-4106-E4DC6E984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A16A-D45C-4A1B-8513-0F42FD8DD0EE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7024F-4082-FB25-C5AF-3C8F35890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85F91-9FAD-A77E-EEBA-4DD91DF72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34A60-6E71-416B-ACB1-E8A9AB2B5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024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AE95C-E513-BDA6-51A8-1673870B8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C86CD-C8A1-9A5F-BB77-9FA4015BB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034508-90C9-579E-F18D-3C970644A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4AADD3-6B00-0019-979F-D5D3FD934F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7A8D46-962B-B96A-3295-48CBF1997A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F1C756-75C7-EB8B-4612-967240AD2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A16A-D45C-4A1B-8513-0F42FD8DD0EE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3A80AE-C5FE-565B-D841-6F362E124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93067-C07C-E315-0A75-D061C62FA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34A60-6E71-416B-ACB1-E8A9AB2B5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22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9E502-E603-4427-7475-80D8A8246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B386EA-B2BC-BE3F-0B43-31DACC3E0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A16A-D45C-4A1B-8513-0F42FD8DD0EE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9F1546-CEB3-F026-91CA-13F8AC39B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65B7E2-0AB6-9AEB-CC26-61DA941E9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34A60-6E71-416B-ACB1-E8A9AB2B5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505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01E93A-A4BA-6268-4D9B-CDB661D51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A16A-D45C-4A1B-8513-0F42FD8DD0EE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AAC0C7-ABB8-DB09-11AB-8F8985FBF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11F46-1500-6067-DA69-9E7E2550B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34A60-6E71-416B-ACB1-E8A9AB2B5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804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DC5C2-7D80-73F7-96B6-218AB7308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54847-A386-FAB7-7F86-8254C06BB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BFCD2A-F043-EAC7-FFF5-AA50DF0D63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99C5B-6D21-94AF-2873-94B811F41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A16A-D45C-4A1B-8513-0F42FD8DD0EE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C6EA83-447A-8026-E259-422B21314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92250-45C3-0FCF-0172-BF9A88E10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34A60-6E71-416B-ACB1-E8A9AB2B5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87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03E37-ECEA-E195-AEE8-9822ACBB4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57246E-A0D1-417F-45B5-759F734907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A5902-CB87-7C17-310A-D87123891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A628C-9E9A-ED80-31AE-21B412168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A16A-D45C-4A1B-8513-0F42FD8DD0EE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64578F-5375-7B72-A86E-BB71C75C9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1F131-185B-1CEF-F7A6-48E47BE6F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34A60-6E71-416B-ACB1-E8A9AB2B5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442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A2BD9-C0D4-9A4E-9628-8B00F4388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4FBD2-FD2B-D79E-37B1-52F984BB8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5E4D4-3CDC-DE53-E2F3-113D675B6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A16A-D45C-4A1B-8513-0F42FD8DD0EE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CF3F0-016E-AFA7-FE3B-482AFA37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CAD86-5B3E-6150-6C99-60F4B2209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34A60-6E71-416B-ACB1-E8A9AB2B5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623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9BC908-71B6-034A-856C-6E0279C4D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90C9F1-A3C5-DBED-E885-C003103DE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A07F2-F750-745E-4C3E-B2045BFEC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A16A-D45C-4A1B-8513-0F42FD8DD0EE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B6BBC-A042-F1FD-B3FB-02609A7FD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34BC5-D408-FBBC-5A45-B17A81684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34A60-6E71-416B-ACB1-E8A9AB2B5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224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889B98-7CB8-3357-A87B-CB4842B74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1E3FA-1202-760E-D32F-17BD7F2C7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3DDE2-AE2B-1026-7313-352ABD1992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AA16A-D45C-4A1B-8513-0F42FD8DD0EE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730F7-D31C-73D5-2C05-96DD9BB363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E939C-6337-5E57-1AEC-7325971D17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34A60-6E71-416B-ACB1-E8A9AB2B5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536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18E53-E163-2F25-EF83-A5A805A24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263" y="1354312"/>
            <a:ext cx="11251474" cy="16657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Translating Human-Readable Pseudo Code into C, C++, and Java</a:t>
            </a:r>
            <a:b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(PSEUDO CODE TO SOURCE CODE GENERATOR)</a:t>
            </a:r>
            <a:endParaRPr lang="en-IN" sz="23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5FDAB-DC3A-5BB1-19D6-43674D1F4B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2859" y="3020038"/>
            <a:ext cx="9136489" cy="350659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A. Surendra Naidu [CSE23004]</a:t>
            </a:r>
            <a:endParaRPr lang="en-IN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G. Mohnish Krishna [CSE 23013]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Mokshagna K [CSE 22502]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b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Department of Computer Science </a:t>
            </a:r>
            <a:b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Course: </a:t>
            </a: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Compiler Design (23CSE314)</a:t>
            </a:r>
            <a:b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Submitted to:</a:t>
            </a: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Dr.K.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Lakshmi Prasanna Mam</a:t>
            </a:r>
            <a:endParaRPr lang="en-IN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8BB5DE6E-BA8C-C15A-DFE2-2A4250919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1497" y="331364"/>
            <a:ext cx="6749005" cy="149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8361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09;p21">
            <a:extLst>
              <a:ext uri="{FF2B5EF4-FFF2-40B4-BE49-F238E27FC236}">
                <a16:creationId xmlns:a16="http://schemas.microsoft.com/office/drawing/2014/main" id="{0388F944-8627-4633-F729-22D83DA155DA}"/>
              </a:ext>
            </a:extLst>
          </p:cNvPr>
          <p:cNvGrpSpPr/>
          <p:nvPr/>
        </p:nvGrpSpPr>
        <p:grpSpPr>
          <a:xfrm>
            <a:off x="0" y="6471667"/>
            <a:ext cx="12191999" cy="386333"/>
            <a:chOff x="0" y="6342887"/>
            <a:chExt cx="12191999" cy="515111"/>
          </a:xfrm>
        </p:grpSpPr>
        <p:pic>
          <p:nvPicPr>
            <p:cNvPr id="5" name="Google Shape;110;p21">
              <a:extLst>
                <a:ext uri="{FF2B5EF4-FFF2-40B4-BE49-F238E27FC236}">
                  <a16:creationId xmlns:a16="http://schemas.microsoft.com/office/drawing/2014/main" id="{059D0E59-336C-4D41-A5F6-BE1C9333DAD1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1;p21">
              <a:extLst>
                <a:ext uri="{FF2B5EF4-FFF2-40B4-BE49-F238E27FC236}">
                  <a16:creationId xmlns:a16="http://schemas.microsoft.com/office/drawing/2014/main" id="{B9F0B3A8-0019-0B79-56F3-06F4F66184BD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112;p21">
              <a:extLst>
                <a:ext uri="{FF2B5EF4-FFF2-40B4-BE49-F238E27FC236}">
                  <a16:creationId xmlns:a16="http://schemas.microsoft.com/office/drawing/2014/main" id="{09846CE6-9AD5-29A5-B906-05D244732812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/>
          <p:cNvSpPr txBox="1"/>
          <p:nvPr/>
        </p:nvSpPr>
        <p:spPr>
          <a:xfrm>
            <a:off x="731520" y="365760"/>
            <a:ext cx="10058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004080"/>
                </a:solidFill>
                <a:latin typeface="Calibri"/>
              </a:defRPr>
            </a:pPr>
            <a:r>
              <a:rPr sz="4000" dirty="0"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2970" y="1026020"/>
            <a:ext cx="2743200" cy="36576"/>
          </a:xfrm>
          <a:prstGeom prst="rect">
            <a:avLst/>
          </a:prstGeom>
          <a:solidFill>
            <a:srgbClr val="9D1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rgbClr val="9D154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71600" y="1645920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8060"/>
                </a:solidFill>
                <a:latin typeface="Calibri"/>
              </a:defRPr>
            </a:pPr>
            <a:r>
              <a:rPr sz="2400" dirty="0"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64592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20202"/>
                </a:solidFill>
                <a:latin typeface="Calibri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194560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8060"/>
                </a:solidFill>
                <a:latin typeface="Calibri"/>
              </a:defRPr>
            </a:pPr>
            <a:r>
              <a:rPr sz="2400"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19456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20202"/>
                </a:solidFill>
                <a:latin typeface="Calibri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Base Paper - Literature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743200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8060"/>
                </a:solidFill>
                <a:latin typeface="Calibri"/>
              </a:defRPr>
            </a:pPr>
            <a:r>
              <a:rPr sz="2400"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74320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20202"/>
                </a:solidFill>
                <a:latin typeface="Calibri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91839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8060"/>
                </a:solidFill>
                <a:latin typeface="Calibri"/>
              </a:defRPr>
            </a:pPr>
            <a:r>
              <a:rPr sz="2400"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291839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20202"/>
                </a:solidFill>
                <a:latin typeface="Calibri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40480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8060"/>
                </a:solidFill>
                <a:latin typeface="Calibri"/>
              </a:defRPr>
            </a:pPr>
            <a:r>
              <a:rPr sz="2400"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84048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20202"/>
                </a:solidFill>
                <a:latin typeface="Calibri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Compiler Phases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89120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8060"/>
                </a:solidFill>
                <a:latin typeface="Calibri"/>
              </a:defRPr>
            </a:pPr>
            <a:r>
              <a:rPr sz="2400"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38912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20202"/>
                </a:solidFill>
                <a:latin typeface="Calibri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Analysis (Lexer)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937759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8060"/>
                </a:solidFill>
                <a:latin typeface="Calibri"/>
              </a:defRPr>
            </a:pPr>
            <a:r>
              <a:rPr sz="2400"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937759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20202"/>
                </a:solidFill>
                <a:latin typeface="Calibri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Syntax Analysis (Parser)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645920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8060"/>
                </a:solidFill>
                <a:latin typeface="Calibri"/>
              </a:defRPr>
            </a:pPr>
            <a:r>
              <a:rPr sz="2400"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164592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20202"/>
                </a:solidFill>
                <a:latin typeface="Calibri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Abstract Syntax Tree (AST)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194560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8060"/>
                </a:solidFill>
                <a:latin typeface="Calibri"/>
              </a:defRPr>
            </a:pPr>
            <a:r>
              <a:rPr sz="2400"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219456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20202"/>
                </a:solidFill>
                <a:latin typeface="Calibri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Code 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43200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8060"/>
                </a:solidFill>
                <a:latin typeface="Calibri"/>
              </a:defRPr>
            </a:pPr>
            <a:r>
              <a:rPr sz="2400"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74320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20202"/>
                </a:solidFill>
                <a:latin typeface="Calibri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GUI Interface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291839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8060"/>
                </a:solidFill>
                <a:latin typeface="Calibri"/>
              </a:defRPr>
            </a:pPr>
            <a:r>
              <a:rPr sz="2400"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291839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20202"/>
                </a:solidFill>
                <a:latin typeface="Calibri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Live Demo 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840480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8060"/>
                </a:solidFill>
                <a:latin typeface="Calibri"/>
              </a:defRPr>
            </a:pPr>
            <a:r>
              <a:rPr sz="2400"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84048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20202"/>
                </a:solidFill>
                <a:latin typeface="Calibri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389120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8060"/>
                </a:solidFill>
                <a:latin typeface="Calibri"/>
              </a:defRPr>
            </a:pPr>
            <a:r>
              <a:rPr sz="2400"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438912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20202"/>
                </a:solidFill>
                <a:latin typeface="Calibri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937759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8060"/>
                </a:solidFill>
                <a:latin typeface="Calibri"/>
              </a:defRPr>
            </a:pPr>
            <a:r>
              <a:rPr sz="2400"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98348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20202"/>
                </a:solidFill>
                <a:latin typeface="Calibri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2" name="Google Shape;109;p21">
            <a:extLst>
              <a:ext uri="{FF2B5EF4-FFF2-40B4-BE49-F238E27FC236}">
                <a16:creationId xmlns:a16="http://schemas.microsoft.com/office/drawing/2014/main" id="{1C8CA793-D612-8FAC-DCEB-397EC3BA77A5}"/>
              </a:ext>
            </a:extLst>
          </p:cNvPr>
          <p:cNvGrpSpPr/>
          <p:nvPr/>
        </p:nvGrpSpPr>
        <p:grpSpPr>
          <a:xfrm>
            <a:off x="0" y="6431662"/>
            <a:ext cx="12191999" cy="386333"/>
            <a:chOff x="0" y="6342887"/>
            <a:chExt cx="12191999" cy="515111"/>
          </a:xfrm>
        </p:grpSpPr>
        <p:pic>
          <p:nvPicPr>
            <p:cNvPr id="3" name="Google Shape;110;p21">
              <a:extLst>
                <a:ext uri="{FF2B5EF4-FFF2-40B4-BE49-F238E27FC236}">
                  <a16:creationId xmlns:a16="http://schemas.microsoft.com/office/drawing/2014/main" id="{4CC6C2AB-650E-288D-15A6-87008C332BE0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111;p21">
              <a:extLst>
                <a:ext uri="{FF2B5EF4-FFF2-40B4-BE49-F238E27FC236}">
                  <a16:creationId xmlns:a16="http://schemas.microsoft.com/office/drawing/2014/main" id="{3075AF33-6FEF-5A9C-1FBA-646C9B8CC14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112;p21">
              <a:extLst>
                <a:ext uri="{FF2B5EF4-FFF2-40B4-BE49-F238E27FC236}">
                  <a16:creationId xmlns:a16="http://schemas.microsoft.com/office/drawing/2014/main" id="{208C1CB2-2A86-6999-EFE2-40C3B9A601EE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09;p21">
            <a:extLst>
              <a:ext uri="{FF2B5EF4-FFF2-40B4-BE49-F238E27FC236}">
                <a16:creationId xmlns:a16="http://schemas.microsoft.com/office/drawing/2014/main" id="{0388F944-8627-4633-F729-22D83DA155DA}"/>
              </a:ext>
            </a:extLst>
          </p:cNvPr>
          <p:cNvGrpSpPr/>
          <p:nvPr/>
        </p:nvGrpSpPr>
        <p:grpSpPr>
          <a:xfrm>
            <a:off x="0" y="6471667"/>
            <a:ext cx="12191999" cy="386333"/>
            <a:chOff x="0" y="6342887"/>
            <a:chExt cx="12191999" cy="515111"/>
          </a:xfrm>
        </p:grpSpPr>
        <p:pic>
          <p:nvPicPr>
            <p:cNvPr id="5" name="Google Shape;110;p21">
              <a:extLst>
                <a:ext uri="{FF2B5EF4-FFF2-40B4-BE49-F238E27FC236}">
                  <a16:creationId xmlns:a16="http://schemas.microsoft.com/office/drawing/2014/main" id="{059D0E59-336C-4D41-A5F6-BE1C9333DAD1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1;p21">
              <a:extLst>
                <a:ext uri="{FF2B5EF4-FFF2-40B4-BE49-F238E27FC236}">
                  <a16:creationId xmlns:a16="http://schemas.microsoft.com/office/drawing/2014/main" id="{B9F0B3A8-0019-0B79-56F3-06F4F66184BD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112;p21">
              <a:extLst>
                <a:ext uri="{FF2B5EF4-FFF2-40B4-BE49-F238E27FC236}">
                  <a16:creationId xmlns:a16="http://schemas.microsoft.com/office/drawing/2014/main" id="{09846CE6-9AD5-29A5-B906-05D244732812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/>
          <p:cNvSpPr txBox="1"/>
          <p:nvPr/>
        </p:nvSpPr>
        <p:spPr>
          <a:xfrm>
            <a:off x="731520" y="36576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004080"/>
                </a:solidFill>
                <a:latin typeface="Calibri"/>
              </a:defRPr>
            </a:pPr>
            <a:r>
              <a:rPr dirty="0"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Objective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9D1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0C584ED-9CD9-0F34-FA20-75152E0220FE}"/>
              </a:ext>
            </a:extLst>
          </p:cNvPr>
          <p:cNvGrpSpPr/>
          <p:nvPr/>
        </p:nvGrpSpPr>
        <p:grpSpPr>
          <a:xfrm>
            <a:off x="6591301" y="1562099"/>
            <a:ext cx="5268168" cy="2324101"/>
            <a:chOff x="6591301" y="1562099"/>
            <a:chExt cx="5268168" cy="2324101"/>
          </a:xfrm>
        </p:grpSpPr>
        <p:sp>
          <p:nvSpPr>
            <p:cNvPr id="12" name="Rounded Rectangle 11"/>
            <p:cNvSpPr/>
            <p:nvPr/>
          </p:nvSpPr>
          <p:spPr>
            <a:xfrm>
              <a:off x="6591301" y="1562099"/>
              <a:ext cx="5181600" cy="2324101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9D154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643689" y="1695450"/>
              <a:ext cx="507682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540"/>
                </a:spcAft>
                <a:defRPr sz="1800" b="1">
                  <a:solidFill>
                    <a:srgbClr val="008060"/>
                  </a:solidFill>
                  <a:latin typeface="Calibri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🎯 Project Objectives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643688" y="2051103"/>
              <a:ext cx="5215781" cy="16158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IN" sz="16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Build a working compiler from scratch in Python 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IN" sz="16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Implement all four phases of compilation 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IN" sz="16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Support multi-language code generation (C, C++, Java) 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IN" sz="16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Handle complex expressions, strings, loops, functions 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IN" sz="16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Provide an interactive GUI for easy use 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IN" sz="16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Display token analysis for educational insight </a:t>
              </a:r>
            </a:p>
          </p:txBody>
        </p:sp>
      </p:grpSp>
      <p:grpSp>
        <p:nvGrpSpPr>
          <p:cNvPr id="2" name="Google Shape;109;p21">
            <a:extLst>
              <a:ext uri="{FF2B5EF4-FFF2-40B4-BE49-F238E27FC236}">
                <a16:creationId xmlns:a16="http://schemas.microsoft.com/office/drawing/2014/main" id="{B7948188-203B-B093-3BE9-B713B66A993A}"/>
              </a:ext>
            </a:extLst>
          </p:cNvPr>
          <p:cNvGrpSpPr/>
          <p:nvPr/>
        </p:nvGrpSpPr>
        <p:grpSpPr>
          <a:xfrm>
            <a:off x="-1" y="6471667"/>
            <a:ext cx="12191999" cy="386333"/>
            <a:chOff x="0" y="6342887"/>
            <a:chExt cx="12191999" cy="515111"/>
          </a:xfrm>
        </p:grpSpPr>
        <p:pic>
          <p:nvPicPr>
            <p:cNvPr id="3" name="Google Shape;110;p21">
              <a:extLst>
                <a:ext uri="{FF2B5EF4-FFF2-40B4-BE49-F238E27FC236}">
                  <a16:creationId xmlns:a16="http://schemas.microsoft.com/office/drawing/2014/main" id="{5F414578-0F99-14B2-39CE-B6157B69FA2E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11;p21">
              <a:extLst>
                <a:ext uri="{FF2B5EF4-FFF2-40B4-BE49-F238E27FC236}">
                  <a16:creationId xmlns:a16="http://schemas.microsoft.com/office/drawing/2014/main" id="{AAC3B613-1360-3367-8392-095C7F168D1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112;p21">
              <a:extLst>
                <a:ext uri="{FF2B5EF4-FFF2-40B4-BE49-F238E27FC236}">
                  <a16:creationId xmlns:a16="http://schemas.microsoft.com/office/drawing/2014/main" id="{03322DD2-CC89-9B0D-8722-68310B8ED0CC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C5CA1A6-1D47-97EB-BB91-5C6C034C77AC}"/>
              </a:ext>
            </a:extLst>
          </p:cNvPr>
          <p:cNvSpPr txBox="1"/>
          <p:nvPr/>
        </p:nvSpPr>
        <p:spPr>
          <a:xfrm>
            <a:off x="554355" y="1343025"/>
            <a:ext cx="58674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 complete Pseudo Code to Source Code Generator— a compiler that translates human-readable pseudo code into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compilable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executable source code. </a:t>
            </a:r>
          </a:p>
          <a:p>
            <a:pPr marL="28575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demonstrates the core phases of compiler design: Lexical Analysis, Syntax Analysis (Parsing), AST Construction, and Code Generation. </a:t>
            </a:r>
          </a:p>
          <a:p>
            <a:pPr marL="28575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multiple target languages: C, C++, and Java.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graphical user interface (GUI) built with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makes it user-friendly and interactive.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09;p21">
            <a:extLst>
              <a:ext uri="{FF2B5EF4-FFF2-40B4-BE49-F238E27FC236}">
                <a16:creationId xmlns:a16="http://schemas.microsoft.com/office/drawing/2014/main" id="{0388F944-8627-4633-F729-22D83DA155DA}"/>
              </a:ext>
            </a:extLst>
          </p:cNvPr>
          <p:cNvGrpSpPr/>
          <p:nvPr/>
        </p:nvGrpSpPr>
        <p:grpSpPr>
          <a:xfrm>
            <a:off x="0" y="6471667"/>
            <a:ext cx="12191999" cy="386333"/>
            <a:chOff x="0" y="6342887"/>
            <a:chExt cx="12191999" cy="515111"/>
          </a:xfrm>
        </p:grpSpPr>
        <p:pic>
          <p:nvPicPr>
            <p:cNvPr id="5" name="Google Shape;110;p21">
              <a:extLst>
                <a:ext uri="{FF2B5EF4-FFF2-40B4-BE49-F238E27FC236}">
                  <a16:creationId xmlns:a16="http://schemas.microsoft.com/office/drawing/2014/main" id="{059D0E59-336C-4D41-A5F6-BE1C9333DAD1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1;p21">
              <a:extLst>
                <a:ext uri="{FF2B5EF4-FFF2-40B4-BE49-F238E27FC236}">
                  <a16:creationId xmlns:a16="http://schemas.microsoft.com/office/drawing/2014/main" id="{B9F0B3A8-0019-0B79-56F3-06F4F66184BD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112;p21">
              <a:extLst>
                <a:ext uri="{FF2B5EF4-FFF2-40B4-BE49-F238E27FC236}">
                  <a16:creationId xmlns:a16="http://schemas.microsoft.com/office/drawing/2014/main" id="{09846CE6-9AD5-29A5-B906-05D244732812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/>
          <p:cNvSpPr txBox="1"/>
          <p:nvPr/>
        </p:nvSpPr>
        <p:spPr>
          <a:xfrm>
            <a:off x="731520" y="36576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004080"/>
                </a:solidFill>
                <a:latin typeface="Calibri"/>
              </a:defRPr>
            </a:pPr>
            <a:r>
              <a:rPr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9D1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7459980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source code in languages like C, C++, or Java requires detailed knowledge of syntax, headers, libraries, and language-specific conventions.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students &amp; beginners, this step learning curve makes it difficult to focus on algorithmic thinking and logic design. </a:t>
            </a:r>
          </a:p>
          <a:p>
            <a:pPr marL="285750" indent="-285750">
              <a:spcAft>
                <a:spcPts val="1019"/>
              </a:spcAft>
              <a:buFont typeface="Wingdings" panose="05000000000000000000" pitchFamily="2" charset="2"/>
              <a:buChar char="§"/>
              <a:defRPr sz="1700">
                <a:solidFill>
                  <a:srgbClr val="404040"/>
                </a:solidFill>
                <a:latin typeface="Calibri"/>
              </a:defRPr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oogle Shape;109;p21">
            <a:extLst>
              <a:ext uri="{FF2B5EF4-FFF2-40B4-BE49-F238E27FC236}">
                <a16:creationId xmlns:a16="http://schemas.microsoft.com/office/drawing/2014/main" id="{1930C9F9-BF04-D4AD-66D3-77B30DC430F7}"/>
              </a:ext>
            </a:extLst>
          </p:cNvPr>
          <p:cNvGrpSpPr/>
          <p:nvPr/>
        </p:nvGrpSpPr>
        <p:grpSpPr>
          <a:xfrm>
            <a:off x="-1" y="6471667"/>
            <a:ext cx="12191999" cy="386333"/>
            <a:chOff x="0" y="6342887"/>
            <a:chExt cx="12191999" cy="515111"/>
          </a:xfrm>
        </p:grpSpPr>
        <p:pic>
          <p:nvPicPr>
            <p:cNvPr id="3" name="Google Shape;110;p21">
              <a:extLst>
                <a:ext uri="{FF2B5EF4-FFF2-40B4-BE49-F238E27FC236}">
                  <a16:creationId xmlns:a16="http://schemas.microsoft.com/office/drawing/2014/main" id="{4D0457A5-6A43-5CC7-A26B-B0F6062E503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11;p21">
              <a:extLst>
                <a:ext uri="{FF2B5EF4-FFF2-40B4-BE49-F238E27FC236}">
                  <a16:creationId xmlns:a16="http://schemas.microsoft.com/office/drawing/2014/main" id="{5DD17CE7-61E3-0FA4-3045-D0C69829A82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12;p21">
              <a:extLst>
                <a:ext uri="{FF2B5EF4-FFF2-40B4-BE49-F238E27FC236}">
                  <a16:creationId xmlns:a16="http://schemas.microsoft.com/office/drawing/2014/main" id="{9F7FE825-C7F6-234D-CD08-62669DD15D04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50" name="Picture 2" descr="Problem statement Vectors - Download Free High-Quality Vectors from Freepik  | Freepik">
            <a:extLst>
              <a:ext uri="{FF2B5EF4-FFF2-40B4-BE49-F238E27FC236}">
                <a16:creationId xmlns:a16="http://schemas.microsoft.com/office/drawing/2014/main" id="{2BD5727E-3441-018F-5E6A-504529CA2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773" y="942973"/>
            <a:ext cx="2486027" cy="2486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A7A37A8E-8C07-11AB-919A-ECA746DE1C63}"/>
              </a:ext>
            </a:extLst>
          </p:cNvPr>
          <p:cNvGrpSpPr/>
          <p:nvPr/>
        </p:nvGrpSpPr>
        <p:grpSpPr>
          <a:xfrm>
            <a:off x="731520" y="3474720"/>
            <a:ext cx="10698480" cy="2743200"/>
            <a:chOff x="731520" y="3474720"/>
            <a:chExt cx="10698480" cy="274320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D84A713-2EB4-8B18-9765-DD42236D7468}"/>
                </a:ext>
              </a:extLst>
            </p:cNvPr>
            <p:cNvGrpSpPr/>
            <p:nvPr/>
          </p:nvGrpSpPr>
          <p:grpSpPr>
            <a:xfrm>
              <a:off x="731520" y="3474720"/>
              <a:ext cx="5029200" cy="2743200"/>
              <a:chOff x="731520" y="3474720"/>
              <a:chExt cx="5029200" cy="2743200"/>
            </a:xfrm>
          </p:grpSpPr>
          <p:sp>
            <p:nvSpPr>
              <p:cNvPr id="12" name="Rounded Rectangle 11"/>
              <p:cNvSpPr/>
              <p:nvPr/>
            </p:nvSpPr>
            <p:spPr>
              <a:xfrm>
                <a:off x="731520" y="3474720"/>
                <a:ext cx="5029200" cy="2743200"/>
              </a:xfrm>
              <a:prstGeom prst="roundRect">
                <a:avLst/>
              </a:prstGeom>
              <a:solidFill>
                <a:srgbClr val="F0F4F8"/>
              </a:solidFill>
              <a:ln w="19050">
                <a:solidFill>
                  <a:srgbClr val="E74C3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914400" y="3611880"/>
                <a:ext cx="46634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540"/>
                  </a:spcAft>
                  <a:defRPr sz="1800" b="1">
                    <a:solidFill>
                      <a:srgbClr val="E74C3C"/>
                    </a:solidFill>
                    <a:latin typeface="Calibri"/>
                  </a:defRPr>
                </a:pPr>
                <a:r>
                  <a:rPr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❌ The Problem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914400" y="4023360"/>
                <a:ext cx="4663440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780"/>
                  </a:spcAft>
                  <a:defRPr sz="1300">
                    <a:solidFill>
                      <a:srgbClr val="404040"/>
                    </a:solidFill>
                    <a:latin typeface="Calibri"/>
                  </a:defRPr>
                </a:pP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Each language has unique syntax rules</a:t>
                </a:r>
              </a:p>
              <a:p>
                <a:pPr>
                  <a:spcAft>
                    <a:spcPts val="780"/>
                  </a:spcAft>
                  <a:defRPr sz="1300">
                    <a:solidFill>
                      <a:srgbClr val="404040"/>
                    </a:solidFill>
                    <a:latin typeface="Calibri"/>
                  </a:defRPr>
                </a:pP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Headers &amp; boilerplate code add complexity</a:t>
                </a:r>
              </a:p>
              <a:p>
                <a:pPr>
                  <a:spcAft>
                    <a:spcPts val="780"/>
                  </a:spcAft>
                  <a:defRPr sz="1300">
                    <a:solidFill>
                      <a:srgbClr val="404040"/>
                    </a:solidFill>
                    <a:latin typeface="Calibri"/>
                  </a:defRPr>
                </a:pP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String handling differs across languages</a:t>
                </a:r>
              </a:p>
              <a:p>
                <a:pPr>
                  <a:spcAft>
                    <a:spcPts val="780"/>
                  </a:spcAft>
                  <a:defRPr sz="1300">
                    <a:solidFill>
                      <a:srgbClr val="404040"/>
                    </a:solidFill>
                    <a:latin typeface="Calibri"/>
                  </a:defRPr>
                </a:pP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Students spend time on syntax, not logic</a:t>
                </a:r>
              </a:p>
            </p:txBody>
          </p:sp>
        </p:grpSp>
        <p:sp>
          <p:nvSpPr>
            <p:cNvPr id="15" name="Rounded Rectangle 14"/>
            <p:cNvSpPr/>
            <p:nvPr/>
          </p:nvSpPr>
          <p:spPr>
            <a:xfrm>
              <a:off x="6400800" y="3474720"/>
              <a:ext cx="5029200" cy="2743200"/>
            </a:xfrm>
            <a:prstGeom prst="roundRect">
              <a:avLst/>
            </a:prstGeom>
            <a:solidFill>
              <a:srgbClr val="F0F4F8"/>
            </a:solidFill>
            <a:ln w="19050">
              <a:solidFill>
                <a:srgbClr val="00806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583680" y="3611880"/>
              <a:ext cx="46634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540"/>
                </a:spcAft>
                <a:defRPr sz="1800" b="1">
                  <a:solidFill>
                    <a:srgbClr val="008060"/>
                  </a:solidFill>
                  <a:latin typeface="Calibri"/>
                </a:defRPr>
              </a:pPr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✅ Our Solution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583680" y="4023360"/>
              <a:ext cx="4663440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780"/>
                </a:spcAft>
                <a:defRPr sz="1300">
                  <a:solidFill>
                    <a:srgbClr val="404040"/>
                  </a:solidFill>
                  <a:latin typeface="Calibri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•  </a:t>
              </a:r>
              <a:r>
                <a:rPr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Write simple pseudo code once</a:t>
              </a:r>
            </a:p>
            <a:p>
              <a:pPr>
                <a:spcAft>
                  <a:spcPts val="780"/>
                </a:spcAft>
                <a:defRPr sz="1300">
                  <a:solidFill>
                    <a:srgbClr val="404040"/>
                  </a:solidFill>
                  <a:latin typeface="Calibri"/>
                </a:defRPr>
              </a:pPr>
              <a:r>
                <a:rPr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•  Compiler translates it to C, C++, or Java</a:t>
              </a:r>
            </a:p>
            <a:p>
              <a:pPr>
                <a:spcAft>
                  <a:spcPts val="780"/>
                </a:spcAft>
                <a:defRPr sz="1300">
                  <a:solidFill>
                    <a:srgbClr val="404040"/>
                  </a:solidFill>
                  <a:latin typeface="Calibri"/>
                </a:defRPr>
              </a:pPr>
              <a:r>
                <a:rPr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•  Handles all headers, types, and syntax automatically</a:t>
              </a:r>
            </a:p>
            <a:p>
              <a:pPr>
                <a:spcAft>
                  <a:spcPts val="780"/>
                </a:spcAft>
                <a:defRPr sz="1300">
                  <a:solidFill>
                    <a:srgbClr val="404040"/>
                  </a:solidFill>
                  <a:latin typeface="Calibri"/>
                </a:defRPr>
              </a:pPr>
              <a:r>
                <a:rPr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•  Focus on logic — the tool handles the rest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09;p21">
            <a:extLst>
              <a:ext uri="{FF2B5EF4-FFF2-40B4-BE49-F238E27FC236}">
                <a16:creationId xmlns:a16="http://schemas.microsoft.com/office/drawing/2014/main" id="{0388F944-8627-4633-F729-22D83DA155DA}"/>
              </a:ext>
            </a:extLst>
          </p:cNvPr>
          <p:cNvGrpSpPr/>
          <p:nvPr/>
        </p:nvGrpSpPr>
        <p:grpSpPr>
          <a:xfrm>
            <a:off x="0" y="6471667"/>
            <a:ext cx="12191999" cy="386333"/>
            <a:chOff x="0" y="6342887"/>
            <a:chExt cx="12191999" cy="515111"/>
          </a:xfrm>
        </p:grpSpPr>
        <p:pic>
          <p:nvPicPr>
            <p:cNvPr id="5" name="Google Shape;110;p21">
              <a:extLst>
                <a:ext uri="{FF2B5EF4-FFF2-40B4-BE49-F238E27FC236}">
                  <a16:creationId xmlns:a16="http://schemas.microsoft.com/office/drawing/2014/main" id="{059D0E59-336C-4D41-A5F6-BE1C9333DAD1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1;p21">
              <a:extLst>
                <a:ext uri="{FF2B5EF4-FFF2-40B4-BE49-F238E27FC236}">
                  <a16:creationId xmlns:a16="http://schemas.microsoft.com/office/drawing/2014/main" id="{B9F0B3A8-0019-0B79-56F3-06F4F66184BD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112;p21">
              <a:extLst>
                <a:ext uri="{FF2B5EF4-FFF2-40B4-BE49-F238E27FC236}">
                  <a16:creationId xmlns:a16="http://schemas.microsoft.com/office/drawing/2014/main" id="{09846CE6-9AD5-29A5-B906-05D244732812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/>
          <p:cNvSpPr txBox="1"/>
          <p:nvPr/>
        </p:nvSpPr>
        <p:spPr>
          <a:xfrm>
            <a:off x="731520" y="36576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004080"/>
                </a:solidFill>
                <a:latin typeface="Calibri"/>
              </a:defRPr>
            </a:pPr>
            <a:r>
              <a:rPr dirty="0"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Paper - Literature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9D1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114300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60606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paper that inspired and guided this project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82D5A39-6F73-A910-F2B8-CDD8D8545D43}"/>
              </a:ext>
            </a:extLst>
          </p:cNvPr>
          <p:cNvGrpSpPr/>
          <p:nvPr/>
        </p:nvGrpSpPr>
        <p:grpSpPr>
          <a:xfrm>
            <a:off x="731520" y="1463040"/>
            <a:ext cx="10728960" cy="4937760"/>
            <a:chOff x="731520" y="1463040"/>
            <a:chExt cx="10728960" cy="493776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E74EFFE-1C6E-1C64-B7F0-E213E2EBEEDD}"/>
                </a:ext>
              </a:extLst>
            </p:cNvPr>
            <p:cNvGrpSpPr/>
            <p:nvPr/>
          </p:nvGrpSpPr>
          <p:grpSpPr>
            <a:xfrm>
              <a:off x="731520" y="1463040"/>
              <a:ext cx="10698480" cy="1617968"/>
              <a:chOff x="731520" y="1463040"/>
              <a:chExt cx="10698480" cy="1617968"/>
            </a:xfrm>
          </p:grpSpPr>
          <p:sp>
            <p:nvSpPr>
              <p:cNvPr id="12" name="Rounded Rectangle 11"/>
              <p:cNvSpPr/>
              <p:nvPr/>
            </p:nvSpPr>
            <p:spPr>
              <a:xfrm>
                <a:off x="731520" y="1463040"/>
                <a:ext cx="10698480" cy="1617968"/>
              </a:xfrm>
              <a:prstGeom prst="roundRect">
                <a:avLst/>
              </a:prstGeom>
              <a:solidFill>
                <a:srgbClr val="F0F4F8"/>
              </a:solidFill>
              <a:ln w="19050">
                <a:solidFill>
                  <a:srgbClr val="00806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914400" y="1600200"/>
                <a:ext cx="103327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540"/>
                  </a:spcAft>
                  <a:defRPr sz="1800" b="1">
                    <a:solidFill>
                      <a:srgbClr val="008060"/>
                    </a:solidFill>
                    <a:latin typeface="Calibri"/>
                  </a:defRPr>
                </a:pP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JETIR1904017 - Auto Source Code Generator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914400" y="2011680"/>
                <a:ext cx="10332720" cy="10361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780"/>
                  </a:spcAft>
                  <a:defRPr sz="1300">
                    <a:solidFill>
                      <a:srgbClr val="404040"/>
                    </a:solidFill>
                    <a:latin typeface="Calibri"/>
                  </a:defRPr>
                </a:pP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Authors: Sagar </a:t>
                </a:r>
                <a:r>
                  <a:rPr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Kesarkar</a:t>
                </a: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Prakash Karpe, Rahul Jadhav, Prof. Diksha Bhave</a:t>
                </a:r>
              </a:p>
              <a:p>
                <a:pPr>
                  <a:spcAft>
                    <a:spcPts val="780"/>
                  </a:spcAft>
                  <a:defRPr sz="1300">
                    <a:solidFill>
                      <a:srgbClr val="404040"/>
                    </a:solidFill>
                    <a:latin typeface="Calibri"/>
                  </a:defRPr>
                </a:pP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Published: JETIR (Journal of Emerging Technologies and Innovative Research), April 2019, Volume 6, Issue 4</a:t>
                </a:r>
              </a:p>
              <a:p>
                <a:pPr>
                  <a:spcAft>
                    <a:spcPts val="780"/>
                  </a:spcAft>
                  <a:defRPr sz="1300">
                    <a:solidFill>
                      <a:srgbClr val="404040"/>
                    </a:solidFill>
                    <a:latin typeface="Calibri"/>
                  </a:defRPr>
                </a:pP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Institution: </a:t>
                </a:r>
                <a:r>
                  <a:rPr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Shivajirao</a:t>
                </a: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S. </a:t>
                </a:r>
                <a:r>
                  <a:rPr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Jondhale</a:t>
                </a: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College of Engineering, Dombivli East, Maharashtra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0F2C13E-647A-3B03-9DC1-77935B7BCEE8}"/>
                </a:ext>
              </a:extLst>
            </p:cNvPr>
            <p:cNvGrpSpPr/>
            <p:nvPr/>
          </p:nvGrpSpPr>
          <p:grpSpPr>
            <a:xfrm>
              <a:off x="731520" y="3200400"/>
              <a:ext cx="10728960" cy="3200400"/>
              <a:chOff x="731520" y="3200400"/>
              <a:chExt cx="10728960" cy="3200400"/>
            </a:xfrm>
          </p:grpSpPr>
          <p:sp>
            <p:nvSpPr>
              <p:cNvPr id="15" name="Rounded Rectangle 14"/>
              <p:cNvSpPr/>
              <p:nvPr/>
            </p:nvSpPr>
            <p:spPr>
              <a:xfrm>
                <a:off x="731520" y="3200400"/>
                <a:ext cx="5029200" cy="3200400"/>
              </a:xfrm>
              <a:prstGeom prst="roundRect">
                <a:avLst/>
              </a:prstGeom>
              <a:solidFill>
                <a:srgbClr val="F0F4F8"/>
              </a:solidFill>
              <a:ln w="19050">
                <a:solidFill>
                  <a:srgbClr val="0056B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914400" y="3337560"/>
                <a:ext cx="46634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540"/>
                  </a:spcAft>
                  <a:defRPr sz="1800" b="1">
                    <a:solidFill>
                      <a:srgbClr val="0056B3"/>
                    </a:solidFill>
                    <a:latin typeface="Calibri"/>
                  </a:defRPr>
                </a:pPr>
                <a:r>
                  <a:rPr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 Paper Summary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914400" y="3749040"/>
                <a:ext cx="4663440" cy="2082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780"/>
                  </a:spcAft>
                  <a:defRPr sz="1300">
                    <a:solidFill>
                      <a:srgbClr val="404040"/>
                    </a:solidFill>
                    <a:latin typeface="Calibri"/>
                  </a:defRPr>
                </a:pP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</a:t>
                </a: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Translates pseudo code into C, C++, and HTML</a:t>
                </a:r>
              </a:p>
              <a:p>
                <a:pPr>
                  <a:spcAft>
                    <a:spcPts val="780"/>
                  </a:spcAft>
                  <a:defRPr sz="1300">
                    <a:solidFill>
                      <a:srgbClr val="404040"/>
                    </a:solidFill>
                    <a:latin typeface="Calibri"/>
                  </a:defRPr>
                </a:pP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Uses compiler phases: analysis &amp; synthesis</a:t>
                </a:r>
              </a:p>
              <a:p>
                <a:pPr>
                  <a:spcAft>
                    <a:spcPts val="780"/>
                  </a:spcAft>
                  <a:defRPr sz="1300">
                    <a:solidFill>
                      <a:srgbClr val="404040"/>
                    </a:solidFill>
                    <a:latin typeface="Calibri"/>
                  </a:defRPr>
                </a:pP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NLP-based tokenization with POS database</a:t>
                </a:r>
              </a:p>
              <a:p>
                <a:pPr>
                  <a:spcAft>
                    <a:spcPts val="780"/>
                  </a:spcAft>
                  <a:defRPr sz="1300">
                    <a:solidFill>
                      <a:srgbClr val="404040"/>
                    </a:solidFill>
                    <a:latin typeface="Calibri"/>
                  </a:defRPr>
                </a:pP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Desktop GUI built with Python + </a:t>
                </a:r>
                <a:r>
                  <a:rPr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Tkinter</a:t>
                </a:r>
                <a:endParaRPr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780"/>
                  </a:spcAft>
                  <a:defRPr sz="1300">
                    <a:solidFill>
                      <a:srgbClr val="404040"/>
                    </a:solidFill>
                    <a:latin typeface="Calibri"/>
                  </a:defRPr>
                </a:pP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Generates intermediate file, validates semantics</a:t>
                </a:r>
              </a:p>
              <a:p>
                <a:pPr>
                  <a:spcAft>
                    <a:spcPts val="780"/>
                  </a:spcAft>
                  <a:defRPr sz="1300">
                    <a:solidFill>
                      <a:srgbClr val="404040"/>
                    </a:solidFill>
                    <a:latin typeface="Calibri"/>
                  </a:defRPr>
                </a:pP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Uses MySQL database for token mapping</a:t>
                </a:r>
              </a:p>
            </p:txBody>
          </p:sp>
          <p:sp>
            <p:nvSpPr>
              <p:cNvPr id="18" name="Rounded Rectangle 17"/>
              <p:cNvSpPr/>
              <p:nvPr/>
            </p:nvSpPr>
            <p:spPr>
              <a:xfrm>
                <a:off x="6248400" y="3200400"/>
                <a:ext cx="5212080" cy="3200400"/>
              </a:xfrm>
              <a:prstGeom prst="roundRect">
                <a:avLst/>
              </a:prstGeom>
              <a:solidFill>
                <a:srgbClr val="F0F4F8"/>
              </a:solidFill>
              <a:ln w="19050">
                <a:solidFill>
                  <a:srgbClr val="27AE6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6400800" y="3337560"/>
                <a:ext cx="48463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540"/>
                  </a:spcAft>
                  <a:defRPr sz="1800" b="1">
                    <a:solidFill>
                      <a:srgbClr val="27AE60"/>
                    </a:solidFill>
                    <a:latin typeface="Calibri"/>
                  </a:defRPr>
                </a:pPr>
                <a:r>
                  <a:rPr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Our Enhancements Over Base Paper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6400800" y="3749040"/>
                <a:ext cx="4846320" cy="23288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780"/>
                  </a:spcAft>
                  <a:defRPr sz="1300">
                    <a:solidFill>
                      <a:srgbClr val="404040"/>
                    </a:solidFill>
                    <a:latin typeface="Calibri"/>
                  </a:defRPr>
                </a:pP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</a:t>
                </a: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Added Java as a third target</a:t>
                </a:r>
              </a:p>
              <a:p>
                <a:pPr>
                  <a:spcAft>
                    <a:spcPts val="780"/>
                  </a:spcAft>
                  <a:defRPr sz="1300">
                    <a:solidFill>
                      <a:srgbClr val="404040"/>
                    </a:solidFill>
                    <a:latin typeface="Calibri"/>
                  </a:defRPr>
                </a:pP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Full AST-based compilation (not just token mapping)</a:t>
                </a:r>
              </a:p>
              <a:p>
                <a:pPr>
                  <a:spcAft>
                    <a:spcPts val="780"/>
                  </a:spcAft>
                  <a:defRPr sz="1300">
                    <a:solidFill>
                      <a:srgbClr val="404040"/>
                    </a:solidFill>
                    <a:latin typeface="Calibri"/>
                  </a:defRPr>
                </a:pP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No external database needed - self-contained compiler</a:t>
                </a:r>
              </a:p>
              <a:p>
                <a:pPr>
                  <a:spcAft>
                    <a:spcPts val="780"/>
                  </a:spcAft>
                  <a:defRPr sz="1300">
                    <a:solidFill>
                      <a:srgbClr val="404040"/>
                    </a:solidFill>
                    <a:latin typeface="Calibri"/>
                  </a:defRPr>
                </a:pP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30+ token types with proper </a:t>
                </a:r>
                <a:r>
                  <a:rPr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lexer</a:t>
                </a: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(vs. NLP approach)</a:t>
                </a:r>
              </a:p>
              <a:p>
                <a:pPr>
                  <a:spcAft>
                    <a:spcPts val="780"/>
                  </a:spcAft>
                  <a:defRPr sz="1300">
                    <a:solidFill>
                      <a:srgbClr val="404040"/>
                    </a:solidFill>
                    <a:latin typeface="Calibri"/>
                  </a:defRPr>
                </a:pP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Recursive descent parser with error recovery</a:t>
                </a:r>
              </a:p>
              <a:p>
                <a:pPr>
                  <a:spcAft>
                    <a:spcPts val="780"/>
                  </a:spcAft>
                  <a:defRPr sz="1300">
                    <a:solidFill>
                      <a:srgbClr val="404040"/>
                    </a:solidFill>
                    <a:latin typeface="Calibri"/>
                  </a:defRPr>
                </a:pP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Handles complex expressions, strings, arrays, functions</a:t>
                </a:r>
              </a:p>
            </p:txBody>
          </p:sp>
        </p:grpSp>
      </p:grpSp>
      <p:grpSp>
        <p:nvGrpSpPr>
          <p:cNvPr id="2" name="Google Shape;109;p21">
            <a:extLst>
              <a:ext uri="{FF2B5EF4-FFF2-40B4-BE49-F238E27FC236}">
                <a16:creationId xmlns:a16="http://schemas.microsoft.com/office/drawing/2014/main" id="{A3EF8820-EEC2-8981-86AB-2348440761F0}"/>
              </a:ext>
            </a:extLst>
          </p:cNvPr>
          <p:cNvGrpSpPr/>
          <p:nvPr/>
        </p:nvGrpSpPr>
        <p:grpSpPr>
          <a:xfrm>
            <a:off x="-15240" y="6509173"/>
            <a:ext cx="12191999" cy="386333"/>
            <a:chOff x="0" y="6342887"/>
            <a:chExt cx="12191999" cy="515111"/>
          </a:xfrm>
        </p:grpSpPr>
        <p:pic>
          <p:nvPicPr>
            <p:cNvPr id="3" name="Google Shape;110;p21">
              <a:extLst>
                <a:ext uri="{FF2B5EF4-FFF2-40B4-BE49-F238E27FC236}">
                  <a16:creationId xmlns:a16="http://schemas.microsoft.com/office/drawing/2014/main" id="{8D0C8ED5-C066-9924-C1C5-CDBB56AABCA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111;p21">
              <a:extLst>
                <a:ext uri="{FF2B5EF4-FFF2-40B4-BE49-F238E27FC236}">
                  <a16:creationId xmlns:a16="http://schemas.microsoft.com/office/drawing/2014/main" id="{006C19CA-0E3F-1453-FD3A-C35AE39EF33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112;p21">
              <a:extLst>
                <a:ext uri="{FF2B5EF4-FFF2-40B4-BE49-F238E27FC236}">
                  <a16:creationId xmlns:a16="http://schemas.microsoft.com/office/drawing/2014/main" id="{22617A57-0DE0-AF4C-E6E3-6257A88E112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09;p21">
            <a:extLst>
              <a:ext uri="{FF2B5EF4-FFF2-40B4-BE49-F238E27FC236}">
                <a16:creationId xmlns:a16="http://schemas.microsoft.com/office/drawing/2014/main" id="{0388F944-8627-4633-F729-22D83DA155DA}"/>
              </a:ext>
            </a:extLst>
          </p:cNvPr>
          <p:cNvGrpSpPr/>
          <p:nvPr/>
        </p:nvGrpSpPr>
        <p:grpSpPr>
          <a:xfrm>
            <a:off x="0" y="6471667"/>
            <a:ext cx="12191999" cy="386333"/>
            <a:chOff x="0" y="6342887"/>
            <a:chExt cx="12191999" cy="515111"/>
          </a:xfrm>
        </p:grpSpPr>
        <p:pic>
          <p:nvPicPr>
            <p:cNvPr id="5" name="Google Shape;110;p21">
              <a:extLst>
                <a:ext uri="{FF2B5EF4-FFF2-40B4-BE49-F238E27FC236}">
                  <a16:creationId xmlns:a16="http://schemas.microsoft.com/office/drawing/2014/main" id="{059D0E59-336C-4D41-A5F6-BE1C9333DAD1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1;p21">
              <a:extLst>
                <a:ext uri="{FF2B5EF4-FFF2-40B4-BE49-F238E27FC236}">
                  <a16:creationId xmlns:a16="http://schemas.microsoft.com/office/drawing/2014/main" id="{B9F0B3A8-0019-0B79-56F3-06F4F66184BD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112;p21">
              <a:extLst>
                <a:ext uri="{FF2B5EF4-FFF2-40B4-BE49-F238E27FC236}">
                  <a16:creationId xmlns:a16="http://schemas.microsoft.com/office/drawing/2014/main" id="{09846CE6-9AD5-29A5-B906-05D244732812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/>
          <p:cNvSpPr txBox="1"/>
          <p:nvPr/>
        </p:nvSpPr>
        <p:spPr>
          <a:xfrm>
            <a:off x="731520" y="36576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004080"/>
                </a:solidFill>
                <a:latin typeface="Calibri"/>
              </a:defRPr>
            </a:pPr>
            <a:r>
              <a:rPr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9D1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114300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60606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overview of the compilation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680210"/>
            <a:ext cx="2011680" cy="16459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56B3"/>
                </a:solidFill>
                <a:latin typeface="Calibri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📝 Pseudo Code</a:t>
            </a:r>
          </a:p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77440" y="2228850"/>
            <a:ext cx="320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40"/>
              </a:spcAft>
              <a:defRPr sz="2800" b="1">
                <a:solidFill>
                  <a:srgbClr val="0056B3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1680210"/>
            <a:ext cx="2011680" cy="16459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8060"/>
                </a:solidFill>
                <a:latin typeface="Calibri"/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🔤 Lexer</a:t>
            </a:r>
          </a:p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(Tokenization)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228850"/>
            <a:ext cx="320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40"/>
              </a:spcAft>
              <a:defRPr sz="2800" b="1">
                <a:solidFill>
                  <a:srgbClr val="0056B3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680210"/>
            <a:ext cx="2011680" cy="16459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3B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B0069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🌳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(Syntax Analysis)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228850"/>
            <a:ext cx="320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40"/>
              </a:spcAft>
              <a:defRPr sz="2800" b="1">
                <a:solidFill>
                  <a:srgbClr val="0056B3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680210"/>
            <a:ext cx="2011680" cy="16459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CC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CC550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(Abstract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228850"/>
            <a:ext cx="320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40"/>
              </a:spcAft>
              <a:defRPr sz="2800" b="1">
                <a:solidFill>
                  <a:srgbClr val="0056B3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1680210"/>
            <a:ext cx="2011680" cy="16459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7AE6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💻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Generator</a:t>
            </a:r>
          </a:p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(C / C++ / Java)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742893"/>
            <a:ext cx="1051560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Lexer breaks the input into tokens (keywords, identifiers, operators, literals).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Parser performs syntax analysis and builds an Abstract Syntax Tree (AST).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Generator traverses the AST and emits target-language source code.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phase is implemented as a separate Python class for clean modular design. </a:t>
            </a:r>
          </a:p>
        </p:txBody>
      </p:sp>
      <p:grpSp>
        <p:nvGrpSpPr>
          <p:cNvPr id="2" name="Google Shape;109;p21">
            <a:extLst>
              <a:ext uri="{FF2B5EF4-FFF2-40B4-BE49-F238E27FC236}">
                <a16:creationId xmlns:a16="http://schemas.microsoft.com/office/drawing/2014/main" id="{A5CD9609-9EB4-41E6-F5DC-CE31CDD46909}"/>
              </a:ext>
            </a:extLst>
          </p:cNvPr>
          <p:cNvGrpSpPr/>
          <p:nvPr/>
        </p:nvGrpSpPr>
        <p:grpSpPr>
          <a:xfrm>
            <a:off x="1" y="6507099"/>
            <a:ext cx="12191999" cy="386333"/>
            <a:chOff x="0" y="6342887"/>
            <a:chExt cx="12191999" cy="515111"/>
          </a:xfrm>
        </p:grpSpPr>
        <p:pic>
          <p:nvPicPr>
            <p:cNvPr id="3" name="Google Shape;110;p21">
              <a:extLst>
                <a:ext uri="{FF2B5EF4-FFF2-40B4-BE49-F238E27FC236}">
                  <a16:creationId xmlns:a16="http://schemas.microsoft.com/office/drawing/2014/main" id="{C91EC8A7-E8F8-FF8D-0A74-6E810257380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111;p21">
              <a:extLst>
                <a:ext uri="{FF2B5EF4-FFF2-40B4-BE49-F238E27FC236}">
                  <a16:creationId xmlns:a16="http://schemas.microsoft.com/office/drawing/2014/main" id="{CC514650-CE3F-7D82-6003-4745828F66E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112;p21">
              <a:extLst>
                <a:ext uri="{FF2B5EF4-FFF2-40B4-BE49-F238E27FC236}">
                  <a16:creationId xmlns:a16="http://schemas.microsoft.com/office/drawing/2014/main" id="{7D1F2018-89A1-30C4-394B-1317235AA924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09;p21">
            <a:extLst>
              <a:ext uri="{FF2B5EF4-FFF2-40B4-BE49-F238E27FC236}">
                <a16:creationId xmlns:a16="http://schemas.microsoft.com/office/drawing/2014/main" id="{0388F944-8627-4633-F729-22D83DA155DA}"/>
              </a:ext>
            </a:extLst>
          </p:cNvPr>
          <p:cNvGrpSpPr/>
          <p:nvPr/>
        </p:nvGrpSpPr>
        <p:grpSpPr>
          <a:xfrm>
            <a:off x="0" y="6471667"/>
            <a:ext cx="12191999" cy="386333"/>
            <a:chOff x="0" y="6342887"/>
            <a:chExt cx="12191999" cy="515111"/>
          </a:xfrm>
        </p:grpSpPr>
        <p:pic>
          <p:nvPicPr>
            <p:cNvPr id="5" name="Google Shape;110;p21">
              <a:extLst>
                <a:ext uri="{FF2B5EF4-FFF2-40B4-BE49-F238E27FC236}">
                  <a16:creationId xmlns:a16="http://schemas.microsoft.com/office/drawing/2014/main" id="{059D0E59-336C-4D41-A5F6-BE1C9333DAD1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1;p21">
              <a:extLst>
                <a:ext uri="{FF2B5EF4-FFF2-40B4-BE49-F238E27FC236}">
                  <a16:creationId xmlns:a16="http://schemas.microsoft.com/office/drawing/2014/main" id="{B9F0B3A8-0019-0B79-56F3-06F4F66184BD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112;p21">
              <a:extLst>
                <a:ext uri="{FF2B5EF4-FFF2-40B4-BE49-F238E27FC236}">
                  <a16:creationId xmlns:a16="http://schemas.microsoft.com/office/drawing/2014/main" id="{09846CE6-9AD5-29A5-B906-05D244732812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/>
          <p:cNvSpPr txBox="1"/>
          <p:nvPr/>
        </p:nvSpPr>
        <p:spPr>
          <a:xfrm>
            <a:off x="731520" y="36576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004080"/>
                </a:solidFill>
                <a:latin typeface="Calibri"/>
              </a:defRPr>
            </a:pPr>
            <a:r>
              <a:rPr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Compiler Phases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9D1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114300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606060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Four essential phases implemented in this project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737360"/>
            <a:ext cx="2286000" cy="4114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56B3"/>
                </a:solidFill>
                <a:latin typeface="Calibri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Class: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Lexer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" y="2834640"/>
            <a:ext cx="137160" cy="914400"/>
          </a:xfrm>
          <a:prstGeom prst="round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7280" y="2834640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008060"/>
                </a:solidFill>
                <a:latin typeface="Calibri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Syntax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46120"/>
            <a:ext cx="6400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Validates token sequence and builds a structured parse tree (AST).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144000" y="2926080"/>
            <a:ext cx="2286000" cy="4114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8060"/>
                </a:solidFill>
                <a:latin typeface="Calibri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Class: Parser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137160" cy="914400"/>
          </a:xfrm>
          <a:prstGeom prst="roundRect">
            <a:avLst/>
          </a:prstGeom>
          <a:solidFill>
            <a:srgbClr val="3B0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97280" y="4023360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3B0069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3. AST Construction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434840"/>
            <a:ext cx="6400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an Abstract Syntax Tree with nodes for each language construct.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4114800"/>
            <a:ext cx="2286000" cy="4114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3B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B0069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10+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 Types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12080"/>
            <a:ext cx="137160" cy="914400"/>
          </a:xfrm>
          <a:prstGeom prst="round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97280" y="5212080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CC5500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4. Code 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623560"/>
            <a:ext cx="6400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Traverses the AST and emits syntactically correct C, C++, or Java code.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5303520"/>
            <a:ext cx="2286000" cy="4114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C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CC5500"/>
                </a:solidFill>
                <a:latin typeface="Calibri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Generator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Classes</a:t>
            </a:r>
          </a:p>
        </p:txBody>
      </p:sp>
      <p:grpSp>
        <p:nvGrpSpPr>
          <p:cNvPr id="2" name="Google Shape;109;p21">
            <a:extLst>
              <a:ext uri="{FF2B5EF4-FFF2-40B4-BE49-F238E27FC236}">
                <a16:creationId xmlns:a16="http://schemas.microsoft.com/office/drawing/2014/main" id="{17BCFCEA-B530-0FAE-3885-F0247CDF5EA9}"/>
              </a:ext>
            </a:extLst>
          </p:cNvPr>
          <p:cNvGrpSpPr/>
          <p:nvPr/>
        </p:nvGrpSpPr>
        <p:grpSpPr>
          <a:xfrm>
            <a:off x="1" y="6442880"/>
            <a:ext cx="12191999" cy="386333"/>
            <a:chOff x="0" y="6342887"/>
            <a:chExt cx="12191999" cy="515111"/>
          </a:xfrm>
        </p:grpSpPr>
        <p:pic>
          <p:nvPicPr>
            <p:cNvPr id="3" name="Google Shape;110;p21">
              <a:extLst>
                <a:ext uri="{FF2B5EF4-FFF2-40B4-BE49-F238E27FC236}">
                  <a16:creationId xmlns:a16="http://schemas.microsoft.com/office/drawing/2014/main" id="{01664DB2-15CE-9F66-99C8-DA80FD60965E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111;p21">
              <a:extLst>
                <a:ext uri="{FF2B5EF4-FFF2-40B4-BE49-F238E27FC236}">
                  <a16:creationId xmlns:a16="http://schemas.microsoft.com/office/drawing/2014/main" id="{B1381750-4FF9-6E11-448C-609F2FE9D75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112;p21">
              <a:extLst>
                <a:ext uri="{FF2B5EF4-FFF2-40B4-BE49-F238E27FC236}">
                  <a16:creationId xmlns:a16="http://schemas.microsoft.com/office/drawing/2014/main" id="{1D8D6C77-A4E0-A4C5-C03B-C96718403E1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" name="Rounded Rectangle 11">
            <a:extLst>
              <a:ext uri="{FF2B5EF4-FFF2-40B4-BE49-F238E27FC236}">
                <a16:creationId xmlns:a16="http://schemas.microsoft.com/office/drawing/2014/main" id="{57619E78-6D8E-DF3E-B18C-8B8095C1D181}"/>
              </a:ext>
            </a:extLst>
          </p:cNvPr>
          <p:cNvSpPr/>
          <p:nvPr/>
        </p:nvSpPr>
        <p:spPr>
          <a:xfrm>
            <a:off x="731520" y="1645920"/>
            <a:ext cx="137160" cy="914400"/>
          </a:xfrm>
          <a:prstGeom prst="round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7BF9F5-A8CD-994F-E9AF-07349E278E6A}"/>
              </a:ext>
            </a:extLst>
          </p:cNvPr>
          <p:cNvSpPr txBox="1"/>
          <p:nvPr/>
        </p:nvSpPr>
        <p:spPr>
          <a:xfrm>
            <a:off x="1097280" y="1645920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0056B3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1. Lexical Analysis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E462A3-77F2-D7A7-DDBF-7AA0DC62F35C}"/>
              </a:ext>
            </a:extLst>
          </p:cNvPr>
          <p:cNvSpPr txBox="1"/>
          <p:nvPr/>
        </p:nvSpPr>
        <p:spPr>
          <a:xfrm>
            <a:off x="1097280" y="2057400"/>
            <a:ext cx="6400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Breaks pseudo code into tokens — keywords, identifiers, operators, literals, etc.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09;p21">
            <a:extLst>
              <a:ext uri="{FF2B5EF4-FFF2-40B4-BE49-F238E27FC236}">
                <a16:creationId xmlns:a16="http://schemas.microsoft.com/office/drawing/2014/main" id="{0388F944-8627-4633-F729-22D83DA155DA}"/>
              </a:ext>
            </a:extLst>
          </p:cNvPr>
          <p:cNvGrpSpPr/>
          <p:nvPr/>
        </p:nvGrpSpPr>
        <p:grpSpPr>
          <a:xfrm>
            <a:off x="0" y="6471667"/>
            <a:ext cx="12191999" cy="386333"/>
            <a:chOff x="0" y="6342887"/>
            <a:chExt cx="12191999" cy="515111"/>
          </a:xfrm>
        </p:grpSpPr>
        <p:pic>
          <p:nvPicPr>
            <p:cNvPr id="5" name="Google Shape;110;p21">
              <a:extLst>
                <a:ext uri="{FF2B5EF4-FFF2-40B4-BE49-F238E27FC236}">
                  <a16:creationId xmlns:a16="http://schemas.microsoft.com/office/drawing/2014/main" id="{059D0E59-336C-4D41-A5F6-BE1C9333DAD1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1;p21">
              <a:extLst>
                <a:ext uri="{FF2B5EF4-FFF2-40B4-BE49-F238E27FC236}">
                  <a16:creationId xmlns:a16="http://schemas.microsoft.com/office/drawing/2014/main" id="{B9F0B3A8-0019-0B79-56F3-06F4F66184BD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112;p21">
              <a:extLst>
                <a:ext uri="{FF2B5EF4-FFF2-40B4-BE49-F238E27FC236}">
                  <a16:creationId xmlns:a16="http://schemas.microsoft.com/office/drawing/2014/main" id="{09846CE6-9AD5-29A5-B906-05D244732812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/>
          <p:cNvSpPr txBox="1"/>
          <p:nvPr/>
        </p:nvSpPr>
        <p:spPr>
          <a:xfrm>
            <a:off x="731520" y="36576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004080"/>
                </a:solidFill>
                <a:latin typeface="Calibri"/>
              </a:defRPr>
            </a:pPr>
            <a:r>
              <a:rPr dirty="0"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Analysis — The Lexer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9D1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9253" y="1121283"/>
            <a:ext cx="34171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60606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 of pseudo code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8783" y="1530734"/>
            <a:ext cx="50292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40404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Scans the input character-by-character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40404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Recognizes 30+ token types (keywords, operators, literals)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40404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strings with escape sequences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40404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line and column numbers for error reporting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40404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aliases (e.g., 'display' → PRINT, 'read' → INPUT)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13C9D0C-E15F-F61D-4597-529DE54C3197}"/>
              </a:ext>
            </a:extLst>
          </p:cNvPr>
          <p:cNvGrpSpPr/>
          <p:nvPr/>
        </p:nvGrpSpPr>
        <p:grpSpPr>
          <a:xfrm>
            <a:off x="6311054" y="3376562"/>
            <a:ext cx="5029200" cy="2785614"/>
            <a:chOff x="6217920" y="1088136"/>
            <a:chExt cx="5029200" cy="2785614"/>
          </a:xfrm>
        </p:grpSpPr>
        <p:sp>
          <p:nvSpPr>
            <p:cNvPr id="13" name="Rounded Rectangle 12"/>
            <p:cNvSpPr/>
            <p:nvPr/>
          </p:nvSpPr>
          <p:spPr>
            <a:xfrm>
              <a:off x="6217920" y="1088136"/>
              <a:ext cx="5029200" cy="2785614"/>
            </a:xfrm>
            <a:prstGeom prst="roundRect">
              <a:avLst/>
            </a:prstGeom>
            <a:solidFill>
              <a:srgbClr val="F0F4F8"/>
            </a:solidFill>
            <a:ln w="19050">
              <a:solidFill>
                <a:srgbClr val="9D154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571431" y="1244999"/>
              <a:ext cx="381837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>
                <a:spcAft>
                  <a:spcPts val="540"/>
                </a:spcAft>
                <a:defRPr sz="1800" b="1">
                  <a:solidFill>
                    <a:srgbClr val="0056B3"/>
                  </a:solidFill>
                  <a:latin typeface="Calibri"/>
                </a:defRPr>
              </a:pPr>
              <a:r>
                <a:rPr dirty="0">
                  <a:solidFill>
                    <a:srgbClr val="9D154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🔤 Supported Token Types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98494" y="1627241"/>
              <a:ext cx="4448908" cy="21133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Aft>
                  <a:spcPts val="780"/>
                </a:spcAft>
                <a:buFont typeface="Wingdings" panose="05000000000000000000" pitchFamily="2" charset="2"/>
                <a:buChar char="§"/>
                <a:defRPr sz="1300">
                  <a:solidFill>
                    <a:srgbClr val="404040"/>
                  </a:solidFill>
                  <a:latin typeface="Calibri"/>
                </a:defRPr>
              </a:pPr>
              <a:r>
                <a:rPr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Keywords: START, END, IF, ELSE, WHILE, FOR, PRINT, INPUT...</a:t>
              </a:r>
            </a:p>
            <a:p>
              <a:pPr marL="285750" indent="-285750">
                <a:spcAft>
                  <a:spcPts val="780"/>
                </a:spcAft>
                <a:buFont typeface="Wingdings" panose="05000000000000000000" pitchFamily="2" charset="2"/>
                <a:buChar char="§"/>
                <a:defRPr sz="1300">
                  <a:solidFill>
                    <a:srgbClr val="404040"/>
                  </a:solidFill>
                  <a:latin typeface="Calibri"/>
                </a:defRPr>
              </a:pPr>
              <a:r>
                <a:rPr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Types: INTEGER, FLOAT, STRING</a:t>
              </a:r>
            </a:p>
            <a:p>
              <a:pPr marL="285750" indent="-285750">
                <a:spcAft>
                  <a:spcPts val="780"/>
                </a:spcAft>
                <a:buFont typeface="Wingdings" panose="05000000000000000000" pitchFamily="2" charset="2"/>
                <a:buChar char="§"/>
                <a:defRPr sz="1300">
                  <a:solidFill>
                    <a:srgbClr val="404040"/>
                  </a:solidFill>
                  <a:latin typeface="Calibri"/>
                </a:defRPr>
              </a:pPr>
              <a:r>
                <a:rPr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Operators: +, -, *, /, %, ==, !=, &lt;, &gt;, &lt;=, &gt;=</a:t>
              </a:r>
            </a:p>
            <a:p>
              <a:pPr marL="285750" indent="-285750">
                <a:spcAft>
                  <a:spcPts val="780"/>
                </a:spcAft>
                <a:buFont typeface="Wingdings" panose="05000000000000000000" pitchFamily="2" charset="2"/>
                <a:buChar char="§"/>
                <a:defRPr sz="1300">
                  <a:solidFill>
                    <a:srgbClr val="404040"/>
                  </a:solidFill>
                  <a:latin typeface="Calibri"/>
                </a:defRPr>
              </a:pPr>
              <a:r>
                <a:rPr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Logical: AND, OR, NOT</a:t>
              </a:r>
            </a:p>
            <a:p>
              <a:pPr marL="285750" indent="-285750">
                <a:spcAft>
                  <a:spcPts val="780"/>
                </a:spcAft>
                <a:buFont typeface="Wingdings" panose="05000000000000000000" pitchFamily="2" charset="2"/>
                <a:buChar char="§"/>
                <a:defRPr sz="1300">
                  <a:solidFill>
                    <a:srgbClr val="404040"/>
                  </a:solidFill>
                  <a:latin typeface="Calibri"/>
                </a:defRPr>
              </a:pPr>
              <a:r>
                <a:rPr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Delimiters: (, ), [, ], {, }, comma, semicolon</a:t>
              </a:r>
            </a:p>
            <a:p>
              <a:pPr marL="285750" indent="-285750">
                <a:spcAft>
                  <a:spcPts val="780"/>
                </a:spcAft>
                <a:buFont typeface="Wingdings" panose="05000000000000000000" pitchFamily="2" charset="2"/>
                <a:buChar char="§"/>
                <a:defRPr sz="1300">
                  <a:solidFill>
                    <a:srgbClr val="404040"/>
                  </a:solidFill>
                  <a:latin typeface="Calibri"/>
                </a:defRPr>
              </a:pPr>
              <a:r>
                <a:rPr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Literals: Numbers, Strings (single &amp; double quotes)</a:t>
              </a:r>
            </a:p>
          </p:txBody>
        </p:sp>
      </p:grpSp>
      <p:grpSp>
        <p:nvGrpSpPr>
          <p:cNvPr id="2" name="Google Shape;109;p21">
            <a:extLst>
              <a:ext uri="{FF2B5EF4-FFF2-40B4-BE49-F238E27FC236}">
                <a16:creationId xmlns:a16="http://schemas.microsoft.com/office/drawing/2014/main" id="{7E0DA371-53A4-C3F4-0A98-8C50A5D150F6}"/>
              </a:ext>
            </a:extLst>
          </p:cNvPr>
          <p:cNvGrpSpPr/>
          <p:nvPr/>
        </p:nvGrpSpPr>
        <p:grpSpPr>
          <a:xfrm>
            <a:off x="1" y="6462523"/>
            <a:ext cx="12191999" cy="386333"/>
            <a:chOff x="0" y="6342887"/>
            <a:chExt cx="12191999" cy="515111"/>
          </a:xfrm>
        </p:grpSpPr>
        <p:pic>
          <p:nvPicPr>
            <p:cNvPr id="3" name="Google Shape;110;p21">
              <a:extLst>
                <a:ext uri="{FF2B5EF4-FFF2-40B4-BE49-F238E27FC236}">
                  <a16:creationId xmlns:a16="http://schemas.microsoft.com/office/drawing/2014/main" id="{E1D61FA6-1EF0-58C2-01E7-5DE619DBE5E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11;p21">
              <a:extLst>
                <a:ext uri="{FF2B5EF4-FFF2-40B4-BE49-F238E27FC236}">
                  <a16:creationId xmlns:a16="http://schemas.microsoft.com/office/drawing/2014/main" id="{54DC90E8-A2E1-F431-8719-80C0554D393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12;p21">
              <a:extLst>
                <a:ext uri="{FF2B5EF4-FFF2-40B4-BE49-F238E27FC236}">
                  <a16:creationId xmlns:a16="http://schemas.microsoft.com/office/drawing/2014/main" id="{E838BDB9-F594-012B-7C5B-1A61F861F56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6AF2722-19B1-988C-9A9E-BAA05E2B193A}"/>
              </a:ext>
            </a:extLst>
          </p:cNvPr>
          <p:cNvGrpSpPr/>
          <p:nvPr/>
        </p:nvGrpSpPr>
        <p:grpSpPr>
          <a:xfrm>
            <a:off x="1113281" y="3376562"/>
            <a:ext cx="4621032" cy="2785614"/>
            <a:chOff x="1227491" y="3873750"/>
            <a:chExt cx="3264748" cy="2421536"/>
          </a:xfrm>
        </p:grpSpPr>
        <p:sp>
          <p:nvSpPr>
            <p:cNvPr id="16" name="Rounded Rectangle 15"/>
            <p:cNvSpPr/>
            <p:nvPr/>
          </p:nvSpPr>
          <p:spPr>
            <a:xfrm>
              <a:off x="1227491" y="3873750"/>
              <a:ext cx="3264748" cy="2421536"/>
            </a:xfrm>
            <a:prstGeom prst="roundRect">
              <a:avLst/>
            </a:prstGeom>
            <a:solidFill>
              <a:srgbClr val="1E1E1E"/>
            </a:solidFill>
            <a:ln w="12700">
              <a:solidFill>
                <a:srgbClr val="304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841997" y="4104762"/>
              <a:ext cx="1815604" cy="19595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00"/>
                </a:spcAft>
                <a:defRPr sz="1200">
                  <a:solidFill>
                    <a:srgbClr val="A6E3A1"/>
                  </a:solidFill>
                  <a:latin typeface="Consolas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# Example Tokenization:</a:t>
              </a:r>
            </a:p>
            <a:p>
              <a:pPr>
                <a:spcAft>
                  <a:spcPts val="200"/>
                </a:spcAft>
                <a:defRPr sz="1200">
                  <a:solidFill>
                    <a:srgbClr val="A6E3A1"/>
                  </a:solidFill>
                  <a:latin typeface="Consolas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Input:   "set x to 10 + y"</a:t>
              </a:r>
            </a:p>
            <a:p>
              <a:pPr>
                <a:spcAft>
                  <a:spcPts val="200"/>
                </a:spcAft>
                <a:defRPr sz="1200">
                  <a:solidFill>
                    <a:srgbClr val="A6E3A1"/>
                  </a:solidFill>
                  <a:latin typeface="Consolas"/>
                </a:defRPr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spcAft>
                  <a:spcPts val="200"/>
                </a:spcAft>
                <a:defRPr sz="1200">
                  <a:solidFill>
                    <a:srgbClr val="A6E3A1"/>
                  </a:solidFill>
                  <a:latin typeface="Consolas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Tokens:  SET  → 'set'</a:t>
              </a:r>
            </a:p>
            <a:p>
              <a:pPr>
                <a:spcAft>
                  <a:spcPts val="200"/>
                </a:spcAft>
                <a:defRPr sz="1200">
                  <a:solidFill>
                    <a:srgbClr val="A6E3A1"/>
                  </a:solidFill>
                  <a:latin typeface="Consolas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IDENTIFIER → 'x'</a:t>
              </a:r>
            </a:p>
            <a:p>
              <a:pPr>
                <a:spcAft>
                  <a:spcPts val="200"/>
                </a:spcAft>
                <a:defRPr sz="1200">
                  <a:solidFill>
                    <a:srgbClr val="A6E3A1"/>
                  </a:solidFill>
                  <a:latin typeface="Consolas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TO → 'to'</a:t>
              </a:r>
            </a:p>
            <a:p>
              <a:pPr>
                <a:spcAft>
                  <a:spcPts val="200"/>
                </a:spcAft>
                <a:defRPr sz="1200">
                  <a:solidFill>
                    <a:srgbClr val="A6E3A1"/>
                  </a:solidFill>
                  <a:latin typeface="Consolas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NUMBER → '10'</a:t>
              </a:r>
            </a:p>
            <a:p>
              <a:pPr>
                <a:spcAft>
                  <a:spcPts val="200"/>
                </a:spcAft>
                <a:defRPr sz="1200">
                  <a:solidFill>
                    <a:srgbClr val="A6E3A1"/>
                  </a:solidFill>
                  <a:latin typeface="Consolas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PLUS → '+'</a:t>
              </a:r>
            </a:p>
            <a:p>
              <a:pPr>
                <a:spcAft>
                  <a:spcPts val="200"/>
                </a:spcAft>
                <a:defRPr sz="1200">
                  <a:solidFill>
                    <a:srgbClr val="A6E3A1"/>
                  </a:solidFill>
                  <a:latin typeface="Consolas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IDENTIFIER → 'y'</a:t>
              </a:r>
            </a:p>
          </p:txBody>
        </p:sp>
      </p:grpSp>
      <p:pic>
        <p:nvPicPr>
          <p:cNvPr id="4100" name="Picture 4">
            <a:extLst>
              <a:ext uri="{FF2B5EF4-FFF2-40B4-BE49-F238E27FC236}">
                <a16:creationId xmlns:a16="http://schemas.microsoft.com/office/drawing/2014/main" id="{ECACC00F-F6CD-87D3-87FB-02D8860E3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5718" y="1107356"/>
            <a:ext cx="4936067" cy="1846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31520" y="36576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004080"/>
                </a:solidFill>
                <a:latin typeface="Calibri"/>
              </a:defRPr>
            </a:pPr>
            <a:r>
              <a:rPr dirty="0"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 Analysis — The Parser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9D1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114300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606060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Building the Abstract Syntax Tree from 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80" y="1551412"/>
            <a:ext cx="536448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500">
                <a:solidFill>
                  <a:srgbClr val="404040"/>
                </a:solidFill>
                <a:latin typeface="Calibri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descent parser that processes the token stream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500">
                <a:solidFill>
                  <a:srgbClr val="404040"/>
                </a:solidFill>
                <a:latin typeface="Calibri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the syntactic structure of the pseudo code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500">
                <a:solidFill>
                  <a:srgbClr val="404040"/>
                </a:solidFill>
                <a:latin typeface="Calibri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nested constructs (if-else, loops within loops)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500">
                <a:solidFill>
                  <a:srgbClr val="404040"/>
                </a:solidFill>
                <a:latin typeface="Calibri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expression parsing with operator precedence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500">
                <a:solidFill>
                  <a:srgbClr val="404040"/>
                </a:solidFill>
                <a:latin typeface="Calibri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recovery with descriptive error messages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500">
                <a:solidFill>
                  <a:srgbClr val="404040"/>
                </a:solidFill>
                <a:latin typeface="Calibri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Strips NEWLINE tokens for cleaner parsing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oogle Shape;109;p21">
            <a:extLst>
              <a:ext uri="{FF2B5EF4-FFF2-40B4-BE49-F238E27FC236}">
                <a16:creationId xmlns:a16="http://schemas.microsoft.com/office/drawing/2014/main" id="{1EF09AFC-AE95-8A2C-BA54-E864B04E8A83}"/>
              </a:ext>
            </a:extLst>
          </p:cNvPr>
          <p:cNvGrpSpPr/>
          <p:nvPr/>
        </p:nvGrpSpPr>
        <p:grpSpPr>
          <a:xfrm>
            <a:off x="1" y="6507099"/>
            <a:ext cx="12191999" cy="386333"/>
            <a:chOff x="0" y="6342887"/>
            <a:chExt cx="12191999" cy="515111"/>
          </a:xfrm>
        </p:grpSpPr>
        <p:pic>
          <p:nvPicPr>
            <p:cNvPr id="3" name="Google Shape;110;p21">
              <a:extLst>
                <a:ext uri="{FF2B5EF4-FFF2-40B4-BE49-F238E27FC236}">
                  <a16:creationId xmlns:a16="http://schemas.microsoft.com/office/drawing/2014/main" id="{CC5F0040-DBCF-152C-5AEE-23A780C1D08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111;p21">
              <a:extLst>
                <a:ext uri="{FF2B5EF4-FFF2-40B4-BE49-F238E27FC236}">
                  <a16:creationId xmlns:a16="http://schemas.microsoft.com/office/drawing/2014/main" id="{74C94CD2-B22F-4ACF-5D65-61DCAAFE81D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12;p21">
              <a:extLst>
                <a:ext uri="{FF2B5EF4-FFF2-40B4-BE49-F238E27FC236}">
                  <a16:creationId xmlns:a16="http://schemas.microsoft.com/office/drawing/2014/main" id="{736CC3F5-06CC-267E-AB9A-74C544BE2CC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363C598-FE65-F590-732B-BC0260A29DCA}"/>
              </a:ext>
            </a:extLst>
          </p:cNvPr>
          <p:cNvGrpSpPr/>
          <p:nvPr/>
        </p:nvGrpSpPr>
        <p:grpSpPr>
          <a:xfrm>
            <a:off x="460586" y="3692815"/>
            <a:ext cx="10876281" cy="2607733"/>
            <a:chOff x="460586" y="3692815"/>
            <a:chExt cx="10876281" cy="2607733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90F522B-8DE8-3641-9B73-4025BADA9DD1}"/>
                </a:ext>
              </a:extLst>
            </p:cNvPr>
            <p:cNvGrpSpPr/>
            <p:nvPr/>
          </p:nvGrpSpPr>
          <p:grpSpPr>
            <a:xfrm>
              <a:off x="460586" y="3692815"/>
              <a:ext cx="10740813" cy="2607733"/>
              <a:chOff x="6400800" y="1463040"/>
              <a:chExt cx="4846320" cy="4251960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6400800" y="1463040"/>
                <a:ext cx="4453467" cy="4251960"/>
              </a:xfrm>
              <a:prstGeom prst="roundRect">
                <a:avLst/>
              </a:prstGeom>
              <a:solidFill>
                <a:srgbClr val="F0F4F8"/>
              </a:solidFill>
              <a:ln w="19050">
                <a:solidFill>
                  <a:srgbClr val="00806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6583680" y="1600200"/>
                <a:ext cx="46634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540"/>
                  </a:spcAft>
                  <a:defRPr sz="1800" b="1">
                    <a:solidFill>
                      <a:srgbClr val="008060"/>
                    </a:solidFill>
                    <a:latin typeface="Calibri"/>
                  </a:defRPr>
                </a:pPr>
                <a:r>
                  <a:rPr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📋 Supported Constructs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6648297" y="2580592"/>
                <a:ext cx="1909395" cy="28270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Aft>
                    <a:spcPts val="780"/>
                  </a:spcAft>
                  <a:buFont typeface="Wingdings" panose="05000000000000000000" pitchFamily="2" charset="2"/>
                  <a:buChar char="§"/>
                  <a:defRPr sz="1300">
                    <a:solidFill>
                      <a:srgbClr val="404040"/>
                    </a:solidFill>
                    <a:latin typeface="Calibri"/>
                  </a:defRPr>
                </a:pP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Variable declarations (DECLARE integer x)</a:t>
                </a:r>
              </a:p>
              <a:p>
                <a:pPr marL="285750" indent="-285750">
                  <a:spcAft>
                    <a:spcPts val="780"/>
                  </a:spcAft>
                  <a:buFont typeface="Wingdings" panose="05000000000000000000" pitchFamily="2" charset="2"/>
                  <a:buChar char="§"/>
                  <a:defRPr sz="1300">
                    <a:solidFill>
                      <a:srgbClr val="404040"/>
                    </a:solidFill>
                    <a:latin typeface="Calibri"/>
                  </a:defRPr>
                </a:pP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Assignments (SET x TO expression)</a:t>
                </a:r>
              </a:p>
              <a:p>
                <a:pPr marL="285750" indent="-285750">
                  <a:spcAft>
                    <a:spcPts val="780"/>
                  </a:spcAft>
                  <a:buFont typeface="Wingdings" panose="05000000000000000000" pitchFamily="2" charset="2"/>
                  <a:buChar char="§"/>
                  <a:defRPr sz="1300">
                    <a:solidFill>
                      <a:srgbClr val="404040"/>
                    </a:solidFill>
                    <a:latin typeface="Calibri"/>
                  </a:defRPr>
                </a:pP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Print/Display statements</a:t>
                </a:r>
              </a:p>
              <a:p>
                <a:pPr marL="285750" indent="-285750">
                  <a:spcAft>
                    <a:spcPts val="780"/>
                  </a:spcAft>
                  <a:buFont typeface="Wingdings" panose="05000000000000000000" pitchFamily="2" charset="2"/>
                  <a:buChar char="§"/>
                  <a:defRPr sz="1300">
                    <a:solidFill>
                      <a:srgbClr val="404040"/>
                    </a:solidFill>
                    <a:latin typeface="Calibri"/>
                  </a:defRPr>
                </a:pP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Input/Read statements</a:t>
                </a:r>
              </a:p>
              <a:p>
                <a:pPr marL="285750" indent="-285750">
                  <a:spcAft>
                    <a:spcPts val="780"/>
                  </a:spcAft>
                  <a:buFont typeface="Wingdings" panose="05000000000000000000" pitchFamily="2" charset="2"/>
                  <a:buChar char="§"/>
                  <a:defRPr sz="1300">
                    <a:solidFill>
                      <a:srgbClr val="404040"/>
                    </a:solidFill>
                    <a:latin typeface="Calibri"/>
                  </a:defRPr>
                </a:pP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If-Else-</a:t>
                </a:r>
                <a:r>
                  <a:rPr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EndIf</a:t>
                </a:r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conditionals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5038CA5-6652-AFCD-D2E6-4DA6B01B4078}"/>
                </a:ext>
              </a:extLst>
            </p:cNvPr>
            <p:cNvSpPr txBox="1"/>
            <p:nvPr/>
          </p:nvSpPr>
          <p:spPr>
            <a:xfrm>
              <a:off x="5240867" y="4236463"/>
              <a:ext cx="6096000" cy="18876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Aft>
                  <a:spcPts val="780"/>
                </a:spcAft>
                <a:buFont typeface="Wingdings" panose="05000000000000000000" pitchFamily="2" charset="2"/>
                <a:buChar char="§"/>
                <a:defRPr sz="1300">
                  <a:solidFill>
                    <a:srgbClr val="404040"/>
                  </a:solidFill>
                  <a:latin typeface="Calibri"/>
                </a:defRPr>
              </a:pPr>
              <a:r>
                <a: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While-</a:t>
              </a:r>
              <a:r>
                <a:rPr lang="en-US" sz="1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EndWhile</a:t>
              </a:r>
              <a:r>
                <a: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loops</a:t>
              </a:r>
            </a:p>
            <a:p>
              <a:pPr marL="285750" indent="-285750">
                <a:spcAft>
                  <a:spcPts val="780"/>
                </a:spcAft>
                <a:buFont typeface="Wingdings" panose="05000000000000000000" pitchFamily="2" charset="2"/>
                <a:buChar char="§"/>
                <a:defRPr sz="1300">
                  <a:solidFill>
                    <a:srgbClr val="404040"/>
                  </a:solidFill>
                  <a:latin typeface="Calibri"/>
                </a:defRPr>
              </a:pPr>
              <a:r>
                <a: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For-To-</a:t>
              </a:r>
              <a:r>
                <a:rPr lang="en-US" sz="1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EndFor</a:t>
              </a:r>
              <a:r>
                <a: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loops</a:t>
              </a:r>
            </a:p>
            <a:p>
              <a:pPr marL="285750" indent="-285750">
                <a:spcAft>
                  <a:spcPts val="780"/>
                </a:spcAft>
                <a:buFont typeface="Wingdings" panose="05000000000000000000" pitchFamily="2" charset="2"/>
                <a:buChar char="§"/>
                <a:defRPr sz="1300">
                  <a:solidFill>
                    <a:srgbClr val="404040"/>
                  </a:solidFill>
                  <a:latin typeface="Calibri"/>
                </a:defRPr>
              </a:pPr>
              <a:r>
                <a: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Function definitions &amp; calls</a:t>
              </a:r>
            </a:p>
            <a:p>
              <a:pPr marL="285750" indent="-285750">
                <a:spcAft>
                  <a:spcPts val="780"/>
                </a:spcAft>
                <a:buFont typeface="Wingdings" panose="05000000000000000000" pitchFamily="2" charset="2"/>
                <a:buChar char="§"/>
                <a:defRPr sz="1300">
                  <a:solidFill>
                    <a:srgbClr val="404040"/>
                  </a:solidFill>
                  <a:latin typeface="Calibri"/>
                </a:defRPr>
              </a:pPr>
              <a:r>
                <a: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Return, Continue, Break statements</a:t>
              </a:r>
            </a:p>
            <a:p>
              <a:pPr marL="285750" indent="-285750">
                <a:spcAft>
                  <a:spcPts val="780"/>
                </a:spcAft>
                <a:buFont typeface="Wingdings" panose="05000000000000000000" pitchFamily="2" charset="2"/>
                <a:buChar char="§"/>
                <a:defRPr sz="1300">
                  <a:solidFill>
                    <a:srgbClr val="404040"/>
                  </a:solidFill>
                  <a:latin typeface="Calibri"/>
                </a:defRPr>
              </a:pPr>
              <a:r>
                <a: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Complex expressions with operators</a:t>
              </a:r>
            </a:p>
          </p:txBody>
        </p:sp>
      </p:grpSp>
      <p:pic>
        <p:nvPicPr>
          <p:cNvPr id="3074" name="Picture 2" descr="Lexical Analysis. Lexical Analysis | by Saman Mahmood | Medium">
            <a:extLst>
              <a:ext uri="{FF2B5EF4-FFF2-40B4-BE49-F238E27FC236}">
                <a16:creationId xmlns:a16="http://schemas.microsoft.com/office/drawing/2014/main" id="{3F3F2282-13EC-6FC5-1FEB-15A68C8AD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370" y="1297697"/>
            <a:ext cx="5010150" cy="200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8" name="Picture 2" descr="General | Developer Tools | Abstract Syntax Tree | Codecademy">
            <a:extLst>
              <a:ext uri="{FF2B5EF4-FFF2-40B4-BE49-F238E27FC236}">
                <a16:creationId xmlns:a16="http://schemas.microsoft.com/office/drawing/2014/main" id="{F0699C39-942B-27C9-A82E-F149C37243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6" t="1714" r="1642" b="3595"/>
          <a:stretch>
            <a:fillRect/>
          </a:stretch>
        </p:blipFill>
        <p:spPr bwMode="auto">
          <a:xfrm>
            <a:off x="8713226" y="2453994"/>
            <a:ext cx="3438087" cy="2377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oogle Shape;109;p21">
            <a:extLst>
              <a:ext uri="{FF2B5EF4-FFF2-40B4-BE49-F238E27FC236}">
                <a16:creationId xmlns:a16="http://schemas.microsoft.com/office/drawing/2014/main" id="{0388F944-8627-4633-F729-22D83DA155DA}"/>
              </a:ext>
            </a:extLst>
          </p:cNvPr>
          <p:cNvGrpSpPr/>
          <p:nvPr/>
        </p:nvGrpSpPr>
        <p:grpSpPr>
          <a:xfrm>
            <a:off x="0" y="6471667"/>
            <a:ext cx="12683149" cy="386333"/>
            <a:chOff x="0" y="6342887"/>
            <a:chExt cx="12191999" cy="515111"/>
          </a:xfrm>
        </p:grpSpPr>
        <p:pic>
          <p:nvPicPr>
            <p:cNvPr id="5" name="Google Shape;110;p21">
              <a:extLst>
                <a:ext uri="{FF2B5EF4-FFF2-40B4-BE49-F238E27FC236}">
                  <a16:creationId xmlns:a16="http://schemas.microsoft.com/office/drawing/2014/main" id="{059D0E59-336C-4D41-A5F6-BE1C9333DAD1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1;p21">
              <a:extLst>
                <a:ext uri="{FF2B5EF4-FFF2-40B4-BE49-F238E27FC236}">
                  <a16:creationId xmlns:a16="http://schemas.microsoft.com/office/drawing/2014/main" id="{B9F0B3A8-0019-0B79-56F3-06F4F66184BD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112;p21">
              <a:extLst>
                <a:ext uri="{FF2B5EF4-FFF2-40B4-BE49-F238E27FC236}">
                  <a16:creationId xmlns:a16="http://schemas.microsoft.com/office/drawing/2014/main" id="{09846CE6-9AD5-29A5-B906-05D244732812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/>
          <p:cNvSpPr txBox="1"/>
          <p:nvPr/>
        </p:nvSpPr>
        <p:spPr>
          <a:xfrm>
            <a:off x="731520" y="365760"/>
            <a:ext cx="104635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004080"/>
                </a:solidFill>
                <a:latin typeface="Calibri"/>
              </a:defRPr>
            </a:pPr>
            <a:r>
              <a:rPr dirty="0"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Syntax Tree (AST)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2429" y="1051560"/>
            <a:ext cx="2027383" cy="36576"/>
          </a:xfrm>
          <a:prstGeom prst="rect">
            <a:avLst/>
          </a:prstGeom>
          <a:solidFill>
            <a:srgbClr val="9D1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1143000"/>
            <a:ext cx="104635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60606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intermediate representation of the parsed code</a:t>
            </a:r>
          </a:p>
        </p:txBody>
      </p:sp>
      <p:grpSp>
        <p:nvGrpSpPr>
          <p:cNvPr id="5133" name="Group 5132">
            <a:extLst>
              <a:ext uri="{FF2B5EF4-FFF2-40B4-BE49-F238E27FC236}">
                <a16:creationId xmlns:a16="http://schemas.microsoft.com/office/drawing/2014/main" id="{091448C8-9BD7-9721-9860-193272EB0713}"/>
              </a:ext>
            </a:extLst>
          </p:cNvPr>
          <p:cNvGrpSpPr/>
          <p:nvPr/>
        </p:nvGrpSpPr>
        <p:grpSpPr>
          <a:xfrm>
            <a:off x="731520" y="1697935"/>
            <a:ext cx="7846677" cy="4468297"/>
            <a:chOff x="1106824" y="1612463"/>
            <a:chExt cx="7846677" cy="4468297"/>
          </a:xfrm>
        </p:grpSpPr>
        <p:sp>
          <p:nvSpPr>
            <p:cNvPr id="12" name="Rounded Rectangle 11"/>
            <p:cNvSpPr/>
            <p:nvPr/>
          </p:nvSpPr>
          <p:spPr>
            <a:xfrm>
              <a:off x="1154853" y="1645920"/>
              <a:ext cx="3716868" cy="777240"/>
            </a:xfrm>
            <a:prstGeom prst="roundRect">
              <a:avLst/>
            </a:prstGeom>
            <a:solidFill>
              <a:srgbClr val="F0F4F8"/>
            </a:solidFill>
            <a:ln w="12700">
              <a:solidFill>
                <a:srgbClr val="3B006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06824" y="1719072"/>
              <a:ext cx="16894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480"/>
                </a:spcAft>
                <a:defRPr sz="1600" b="1">
                  <a:solidFill>
                    <a:srgbClr val="3B0069"/>
                  </a:solidFill>
                  <a:latin typeface="Calibri"/>
                </a:defRPr>
              </a:pPr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Program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299247" y="2029968"/>
              <a:ext cx="337897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359"/>
                </a:spcAft>
                <a:defRPr sz="1200" b="0">
                  <a:solidFill>
                    <a:srgbClr val="404040"/>
                  </a:solidFill>
                  <a:latin typeface="Calibri"/>
                </a:defRPr>
              </a:pPr>
              <a:r>
                <a:rPr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Root node: list of statements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154853" y="2560320"/>
              <a:ext cx="3716868" cy="777240"/>
            </a:xfrm>
            <a:prstGeom prst="roundRect">
              <a:avLst/>
            </a:prstGeom>
            <a:solidFill>
              <a:srgbClr val="F0F4F8"/>
            </a:solidFill>
            <a:ln w="12700">
              <a:solidFill>
                <a:srgbClr val="3B006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106824" y="2633472"/>
              <a:ext cx="16894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480"/>
                </a:spcAft>
                <a:defRPr sz="1600" b="1">
                  <a:solidFill>
                    <a:srgbClr val="3B0069"/>
                  </a:solidFill>
                  <a:latin typeface="Calibri"/>
                </a:defRPr>
              </a:pPr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Declaration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299247" y="2944368"/>
              <a:ext cx="337897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359"/>
                </a:spcAft>
                <a:defRPr sz="1200" b="0">
                  <a:solidFill>
                    <a:srgbClr val="404040"/>
                  </a:solidFill>
                  <a:latin typeface="Calibri"/>
                </a:defRPr>
              </a:pPr>
              <a:r>
                <a:rPr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Type, variable name, optional size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154853" y="3474720"/>
              <a:ext cx="3716868" cy="777240"/>
            </a:xfrm>
            <a:prstGeom prst="roundRect">
              <a:avLst/>
            </a:prstGeom>
            <a:solidFill>
              <a:srgbClr val="F0F4F8"/>
            </a:solidFill>
            <a:ln w="12700">
              <a:solidFill>
                <a:srgbClr val="3B006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06824" y="3547872"/>
              <a:ext cx="16894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480"/>
                </a:spcAft>
                <a:defRPr sz="1600" b="1">
                  <a:solidFill>
                    <a:srgbClr val="3B0069"/>
                  </a:solidFill>
                  <a:latin typeface="Calibri"/>
                </a:defRPr>
              </a:pPr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Assignment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299247" y="3858768"/>
              <a:ext cx="33789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359"/>
                </a:spcAft>
                <a:defRPr sz="1200" b="0">
                  <a:solidFill>
                    <a:srgbClr val="404040"/>
                  </a:solidFill>
                  <a:latin typeface="Calibri"/>
                </a:defRPr>
              </a:pPr>
              <a:r>
                <a:rPr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Variable and expression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154853" y="4389120"/>
              <a:ext cx="3716868" cy="777240"/>
            </a:xfrm>
            <a:prstGeom prst="roundRect">
              <a:avLst/>
            </a:prstGeom>
            <a:solidFill>
              <a:srgbClr val="F0F4F8"/>
            </a:solidFill>
            <a:ln w="12700">
              <a:solidFill>
                <a:srgbClr val="3B006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106824" y="4462272"/>
              <a:ext cx="16894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480"/>
                </a:spcAft>
                <a:defRPr sz="1600" b="1">
                  <a:solidFill>
                    <a:srgbClr val="3B0069"/>
                  </a:solidFill>
                  <a:latin typeface="Calibri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Print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Statement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299247" y="4773168"/>
              <a:ext cx="33789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359"/>
                </a:spcAft>
                <a:defRPr sz="1200" b="0">
                  <a:solidFill>
                    <a:srgbClr val="404040"/>
                  </a:solidFill>
                  <a:latin typeface="Calibri"/>
                </a:defRPr>
              </a:pPr>
              <a:r>
                <a:rPr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Expression to output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154853" y="5303520"/>
              <a:ext cx="3716868" cy="777240"/>
            </a:xfrm>
            <a:prstGeom prst="roundRect">
              <a:avLst/>
            </a:prstGeom>
            <a:solidFill>
              <a:srgbClr val="F0F4F8"/>
            </a:solidFill>
            <a:ln w="12700">
              <a:solidFill>
                <a:srgbClr val="3B006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106824" y="5376672"/>
              <a:ext cx="16894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480"/>
                </a:spcAft>
                <a:defRPr sz="1600" b="1">
                  <a:solidFill>
                    <a:srgbClr val="3B0069"/>
                  </a:solidFill>
                  <a:latin typeface="Calibri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Statement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299247" y="5687568"/>
              <a:ext cx="337897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359"/>
                </a:spcAft>
                <a:defRPr sz="1200" b="0">
                  <a:solidFill>
                    <a:srgbClr val="404040"/>
                  </a:solidFill>
                  <a:latin typeface="Calibri"/>
                </a:defRPr>
              </a:pPr>
              <a:r>
                <a:rPr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Variable to read into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236633" y="1612463"/>
              <a:ext cx="3716868" cy="777240"/>
            </a:xfrm>
            <a:prstGeom prst="roundRect">
              <a:avLst/>
            </a:prstGeom>
            <a:solidFill>
              <a:srgbClr val="F0F4F8"/>
            </a:solidFill>
            <a:ln w="12700">
              <a:solidFill>
                <a:srgbClr val="CC55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188604" y="1685615"/>
              <a:ext cx="16894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480"/>
                </a:spcAft>
                <a:defRPr sz="1600" b="1">
                  <a:solidFill>
                    <a:srgbClr val="CC5500"/>
                  </a:solidFill>
                  <a:latin typeface="Calibri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Statement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381027" y="1996511"/>
              <a:ext cx="337897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359"/>
                </a:spcAft>
                <a:defRPr sz="1200" b="0">
                  <a:solidFill>
                    <a:srgbClr val="404040"/>
                  </a:solidFill>
                  <a:latin typeface="Calibri"/>
                </a:defRPr>
              </a:pPr>
              <a:r>
                <a:rPr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Condition, then-block, else-block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236633" y="2526863"/>
              <a:ext cx="3716868" cy="777240"/>
            </a:xfrm>
            <a:prstGeom prst="roundRect">
              <a:avLst/>
            </a:prstGeom>
            <a:solidFill>
              <a:srgbClr val="F0F4F8"/>
            </a:solidFill>
            <a:ln w="12700">
              <a:solidFill>
                <a:srgbClr val="CC55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188604" y="2600015"/>
              <a:ext cx="16894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480"/>
                </a:spcAft>
                <a:defRPr sz="1600" b="1">
                  <a:solidFill>
                    <a:srgbClr val="CC5500"/>
                  </a:solidFill>
                  <a:latin typeface="Calibri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While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Loop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381027" y="2910911"/>
              <a:ext cx="337897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359"/>
                </a:spcAft>
                <a:defRPr sz="1200" b="0">
                  <a:solidFill>
                    <a:srgbClr val="404040"/>
                  </a:solidFill>
                  <a:latin typeface="Calibri"/>
                </a:defRPr>
              </a:pPr>
              <a:r>
                <a:rPr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Condition and body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236633" y="3441263"/>
              <a:ext cx="3716868" cy="777240"/>
            </a:xfrm>
            <a:prstGeom prst="roundRect">
              <a:avLst/>
            </a:prstGeom>
            <a:solidFill>
              <a:srgbClr val="F0F4F8"/>
            </a:solidFill>
            <a:ln w="12700">
              <a:solidFill>
                <a:srgbClr val="CC55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188604" y="3514415"/>
              <a:ext cx="16894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480"/>
                </a:spcAft>
                <a:defRPr sz="1600" b="1">
                  <a:solidFill>
                    <a:srgbClr val="CC5500"/>
                  </a:solidFill>
                  <a:latin typeface="Calibri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Loop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381027" y="3852969"/>
              <a:ext cx="337897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359"/>
                </a:spcAft>
                <a:defRPr sz="1200" b="0">
                  <a:solidFill>
                    <a:srgbClr val="404040"/>
                  </a:solidFill>
                  <a:latin typeface="Calibri"/>
                </a:defRPr>
              </a:pPr>
              <a:r>
                <a:rPr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Variable, start, end, body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5236633" y="4355663"/>
              <a:ext cx="3716868" cy="777240"/>
            </a:xfrm>
            <a:prstGeom prst="roundRect">
              <a:avLst/>
            </a:prstGeom>
            <a:solidFill>
              <a:srgbClr val="F0F4F8"/>
            </a:solidFill>
            <a:ln w="12700">
              <a:solidFill>
                <a:srgbClr val="CC55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188604" y="4428815"/>
              <a:ext cx="16894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480"/>
                </a:spcAft>
                <a:defRPr sz="1600" b="1">
                  <a:solidFill>
                    <a:srgbClr val="CC5500"/>
                  </a:solidFill>
                  <a:latin typeface="Calibri"/>
                </a:defRPr>
              </a:pPr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FunctionDef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381027" y="4739711"/>
              <a:ext cx="337897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359"/>
                </a:spcAft>
                <a:defRPr sz="1200" b="0">
                  <a:solidFill>
                    <a:srgbClr val="404040"/>
                  </a:solidFill>
                  <a:latin typeface="Calibri"/>
                </a:defRPr>
              </a:pPr>
              <a:r>
                <a:rPr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Name, parameters, body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5236633" y="5270063"/>
              <a:ext cx="3716868" cy="777240"/>
            </a:xfrm>
            <a:prstGeom prst="roundRect">
              <a:avLst/>
            </a:prstGeom>
            <a:solidFill>
              <a:srgbClr val="F0F4F8"/>
            </a:solidFill>
            <a:ln w="12700">
              <a:solidFill>
                <a:srgbClr val="CC55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188604" y="5343215"/>
              <a:ext cx="201229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480"/>
                </a:spcAft>
                <a:defRPr sz="1600" b="1">
                  <a:solidFill>
                    <a:srgbClr val="CC5500"/>
                  </a:solidFill>
                  <a:latin typeface="Calibri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Return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Statement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381027" y="5654111"/>
              <a:ext cx="337897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359"/>
                </a:spcAft>
                <a:defRPr sz="1200" b="0">
                  <a:solidFill>
                    <a:srgbClr val="404040"/>
                  </a:solidFill>
                  <a:latin typeface="Calibri"/>
                </a:defRPr>
              </a:pPr>
              <a:r>
                <a:rPr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Expression to return</a:t>
              </a:r>
            </a:p>
          </p:txBody>
        </p:sp>
      </p:grpSp>
      <p:grpSp>
        <p:nvGrpSpPr>
          <p:cNvPr id="2" name="Google Shape;109;p21">
            <a:extLst>
              <a:ext uri="{FF2B5EF4-FFF2-40B4-BE49-F238E27FC236}">
                <a16:creationId xmlns:a16="http://schemas.microsoft.com/office/drawing/2014/main" id="{FA7FBDAD-75C8-72A3-AC95-7F89CF197471}"/>
              </a:ext>
            </a:extLst>
          </p:cNvPr>
          <p:cNvGrpSpPr/>
          <p:nvPr/>
        </p:nvGrpSpPr>
        <p:grpSpPr>
          <a:xfrm>
            <a:off x="-1" y="6471667"/>
            <a:ext cx="12683149" cy="386333"/>
            <a:chOff x="0" y="6342887"/>
            <a:chExt cx="12191999" cy="515111"/>
          </a:xfrm>
        </p:grpSpPr>
        <p:pic>
          <p:nvPicPr>
            <p:cNvPr id="3" name="Google Shape;110;p21">
              <a:extLst>
                <a:ext uri="{FF2B5EF4-FFF2-40B4-BE49-F238E27FC236}">
                  <a16:creationId xmlns:a16="http://schemas.microsoft.com/office/drawing/2014/main" id="{EB721FCC-2ED4-6921-1FF5-C52807E285E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111;p21">
              <a:extLst>
                <a:ext uri="{FF2B5EF4-FFF2-40B4-BE49-F238E27FC236}">
                  <a16:creationId xmlns:a16="http://schemas.microsoft.com/office/drawing/2014/main" id="{184F47EB-259E-C525-398D-C258EB7718A0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112;p21">
              <a:extLst>
                <a:ext uri="{FF2B5EF4-FFF2-40B4-BE49-F238E27FC236}">
                  <a16:creationId xmlns:a16="http://schemas.microsoft.com/office/drawing/2014/main" id="{DD67C66B-4B9A-82AF-70F9-0C7D6AC2787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09;p21">
            <a:extLst>
              <a:ext uri="{FF2B5EF4-FFF2-40B4-BE49-F238E27FC236}">
                <a16:creationId xmlns:a16="http://schemas.microsoft.com/office/drawing/2014/main" id="{0388F944-8627-4633-F729-22D83DA155DA}"/>
              </a:ext>
            </a:extLst>
          </p:cNvPr>
          <p:cNvGrpSpPr/>
          <p:nvPr/>
        </p:nvGrpSpPr>
        <p:grpSpPr>
          <a:xfrm>
            <a:off x="0" y="6471667"/>
            <a:ext cx="12191999" cy="386333"/>
            <a:chOff x="0" y="6342887"/>
            <a:chExt cx="12191999" cy="515111"/>
          </a:xfrm>
        </p:grpSpPr>
        <p:pic>
          <p:nvPicPr>
            <p:cNvPr id="5" name="Google Shape;110;p21">
              <a:extLst>
                <a:ext uri="{FF2B5EF4-FFF2-40B4-BE49-F238E27FC236}">
                  <a16:creationId xmlns:a16="http://schemas.microsoft.com/office/drawing/2014/main" id="{059D0E59-336C-4D41-A5F6-BE1C9333DAD1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1;p21">
              <a:extLst>
                <a:ext uri="{FF2B5EF4-FFF2-40B4-BE49-F238E27FC236}">
                  <a16:creationId xmlns:a16="http://schemas.microsoft.com/office/drawing/2014/main" id="{B9F0B3A8-0019-0B79-56F3-06F4F66184BD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112;p21">
              <a:extLst>
                <a:ext uri="{FF2B5EF4-FFF2-40B4-BE49-F238E27FC236}">
                  <a16:creationId xmlns:a16="http://schemas.microsoft.com/office/drawing/2014/main" id="{09846CE6-9AD5-29A5-B906-05D244732812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/>
          <p:cNvSpPr txBox="1"/>
          <p:nvPr/>
        </p:nvSpPr>
        <p:spPr>
          <a:xfrm>
            <a:off x="731520" y="36576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004080"/>
                </a:solidFill>
                <a:latin typeface="Calibri"/>
              </a:defRPr>
            </a:pPr>
            <a:r>
              <a:rPr dirty="0"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Generation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9D1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9D154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114300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606060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Translating AST to target language source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45920"/>
            <a:ext cx="3566160" cy="41148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1783080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056B3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Code Generator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94560"/>
            <a:ext cx="32004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404040"/>
                </a:solidFill>
                <a:latin typeface="Calibri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Uses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stdlib.h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string.h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ctype.h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80"/>
              </a:spcAft>
              <a:defRPr sz="1300">
                <a:solidFill>
                  <a:srgbClr val="404040"/>
                </a:solidFill>
                <a:latin typeface="Calibri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char arrays for strings with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fgets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spcAft>
                <a:spcPts val="780"/>
              </a:spcAft>
              <a:defRPr sz="1300">
                <a:solidFill>
                  <a:srgbClr val="404040"/>
                </a:solidFill>
                <a:latin typeface="Calibri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I/O</a:t>
            </a:r>
          </a:p>
          <a:p>
            <a:pPr>
              <a:spcAft>
                <a:spcPts val="780"/>
              </a:spcAft>
              <a:defRPr sz="1300">
                <a:solidFill>
                  <a:srgbClr val="404040"/>
                </a:solidFill>
                <a:latin typeface="Calibri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Correct format specifiers (%d, %f, %s)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645920"/>
            <a:ext cx="3566160" cy="41148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80560" y="1783080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08060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Code 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194560"/>
            <a:ext cx="3200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404040"/>
                </a:solidFill>
                <a:latin typeface="Calibri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Uses iostream, string,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cctype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80"/>
              </a:spcAft>
              <a:defRPr sz="1300">
                <a:solidFill>
                  <a:srgbClr val="404040"/>
                </a:solidFill>
                <a:latin typeface="Calibri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std::string for string handling</a:t>
            </a:r>
          </a:p>
          <a:p>
            <a:pPr>
              <a:spcAft>
                <a:spcPts val="780"/>
              </a:spcAft>
              <a:defRPr sz="1300">
                <a:solidFill>
                  <a:srgbClr val="404040"/>
                </a:solidFill>
                <a:latin typeface="Calibri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getline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for strings</a:t>
            </a:r>
          </a:p>
          <a:p>
            <a:pPr>
              <a:spcAft>
                <a:spcPts val="780"/>
              </a:spcAft>
              <a:defRPr sz="1300">
                <a:solidFill>
                  <a:srgbClr val="404040"/>
                </a:solidFill>
                <a:latin typeface="Calibri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strlen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→ .length() conversion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8640" y="1645920"/>
            <a:ext cx="3566160" cy="41148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3B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21040" y="1783080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3B0069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Code Generator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94560"/>
            <a:ext cx="320040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404040"/>
                </a:solidFill>
                <a:latin typeface="Calibri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Generates class Main structure</a:t>
            </a:r>
          </a:p>
          <a:p>
            <a:pPr>
              <a:spcAft>
                <a:spcPts val="780"/>
              </a:spcAft>
              <a:defRPr sz="1300">
                <a:solidFill>
                  <a:srgbClr val="404040"/>
                </a:solidFill>
                <a:latin typeface="Calibri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Uses Scanner for input</a:t>
            </a:r>
          </a:p>
          <a:p>
            <a:pPr>
              <a:spcAft>
                <a:spcPts val="780"/>
              </a:spcAft>
              <a:defRPr sz="1300">
                <a:solidFill>
                  <a:srgbClr val="404040"/>
                </a:solidFill>
                <a:latin typeface="Calibri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String type with .length()/.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charAt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spcAft>
                <a:spcPts val="780"/>
              </a:spcAft>
              <a:defRPr sz="1300">
                <a:solidFill>
                  <a:srgbClr val="404040"/>
                </a:solidFill>
                <a:latin typeface="Calibri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Character class methods for char 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3504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0">
                <a:solidFill>
                  <a:srgbClr val="008060"/>
                </a:solidFill>
                <a:latin typeface="Calibri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✨ Key Feature: Each generator creates a fresh instance per compilation for clean state management</a:t>
            </a:r>
          </a:p>
        </p:txBody>
      </p:sp>
      <p:grpSp>
        <p:nvGrpSpPr>
          <p:cNvPr id="2" name="Google Shape;109;p21">
            <a:extLst>
              <a:ext uri="{FF2B5EF4-FFF2-40B4-BE49-F238E27FC236}">
                <a16:creationId xmlns:a16="http://schemas.microsoft.com/office/drawing/2014/main" id="{2D2699E9-82D4-5FF4-220D-2672DC458112}"/>
              </a:ext>
            </a:extLst>
          </p:cNvPr>
          <p:cNvGrpSpPr/>
          <p:nvPr/>
        </p:nvGrpSpPr>
        <p:grpSpPr>
          <a:xfrm>
            <a:off x="-15240" y="6453338"/>
            <a:ext cx="12191999" cy="386333"/>
            <a:chOff x="0" y="6342887"/>
            <a:chExt cx="12191999" cy="515111"/>
          </a:xfrm>
        </p:grpSpPr>
        <p:pic>
          <p:nvPicPr>
            <p:cNvPr id="3" name="Google Shape;110;p21">
              <a:extLst>
                <a:ext uri="{FF2B5EF4-FFF2-40B4-BE49-F238E27FC236}">
                  <a16:creationId xmlns:a16="http://schemas.microsoft.com/office/drawing/2014/main" id="{832A6B44-C02D-0D4A-CE43-394A29C81E23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111;p21">
              <a:extLst>
                <a:ext uri="{FF2B5EF4-FFF2-40B4-BE49-F238E27FC236}">
                  <a16:creationId xmlns:a16="http://schemas.microsoft.com/office/drawing/2014/main" id="{B70CB3C5-17FC-1E26-F50F-193225C7483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112;p21">
              <a:extLst>
                <a:ext uri="{FF2B5EF4-FFF2-40B4-BE49-F238E27FC236}">
                  <a16:creationId xmlns:a16="http://schemas.microsoft.com/office/drawing/2014/main" id="{0212891C-28B9-8219-E989-7D05547F8F17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09;p21">
            <a:extLst>
              <a:ext uri="{FF2B5EF4-FFF2-40B4-BE49-F238E27FC236}">
                <a16:creationId xmlns:a16="http://schemas.microsoft.com/office/drawing/2014/main" id="{0388F944-8627-4633-F729-22D83DA155DA}"/>
              </a:ext>
            </a:extLst>
          </p:cNvPr>
          <p:cNvGrpSpPr/>
          <p:nvPr/>
        </p:nvGrpSpPr>
        <p:grpSpPr>
          <a:xfrm>
            <a:off x="0" y="6471667"/>
            <a:ext cx="12191999" cy="386333"/>
            <a:chOff x="0" y="6342887"/>
            <a:chExt cx="12191999" cy="515111"/>
          </a:xfrm>
        </p:grpSpPr>
        <p:pic>
          <p:nvPicPr>
            <p:cNvPr id="5" name="Google Shape;110;p21">
              <a:extLst>
                <a:ext uri="{FF2B5EF4-FFF2-40B4-BE49-F238E27FC236}">
                  <a16:creationId xmlns:a16="http://schemas.microsoft.com/office/drawing/2014/main" id="{059D0E59-336C-4D41-A5F6-BE1C9333DAD1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1;p21">
              <a:extLst>
                <a:ext uri="{FF2B5EF4-FFF2-40B4-BE49-F238E27FC236}">
                  <a16:creationId xmlns:a16="http://schemas.microsoft.com/office/drawing/2014/main" id="{B9F0B3A8-0019-0B79-56F3-06F4F66184BD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112;p21">
              <a:extLst>
                <a:ext uri="{FF2B5EF4-FFF2-40B4-BE49-F238E27FC236}">
                  <a16:creationId xmlns:a16="http://schemas.microsoft.com/office/drawing/2014/main" id="{09846CE6-9AD5-29A5-B906-05D244732812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/>
          <p:cNvSpPr txBox="1"/>
          <p:nvPr/>
        </p:nvSpPr>
        <p:spPr>
          <a:xfrm>
            <a:off x="731520" y="36576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004080"/>
                </a:solidFill>
                <a:latin typeface="Calibri"/>
              </a:defRPr>
            </a:pPr>
            <a:r>
              <a:rPr dirty="0"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Graphical User Interface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9D1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114300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606060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Built with Python Tkinter — Interactive &amp; User-Friendly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45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40404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Split-pane layout: Input (left) &amp; Output (right)</a:t>
            </a:r>
          </a:p>
          <a:p>
            <a:pPr>
              <a:spcAft>
                <a:spcPts val="960"/>
              </a:spcAft>
              <a:defRPr sz="1600">
                <a:solidFill>
                  <a:srgbClr val="40404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Tabbed output: 'Generated Code' and 'Tokens' tabs</a:t>
            </a:r>
          </a:p>
          <a:p>
            <a:pPr>
              <a:spcAft>
                <a:spcPts val="960"/>
              </a:spcAft>
              <a:defRPr sz="1600">
                <a:solidFill>
                  <a:srgbClr val="40404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Language selection via Radio Buttons (C, C++, Java)</a:t>
            </a:r>
          </a:p>
          <a:p>
            <a:pPr>
              <a:spcAft>
                <a:spcPts val="960"/>
              </a:spcAft>
              <a:defRPr sz="1600">
                <a:solidFill>
                  <a:srgbClr val="40404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Action buttons: Compile, Clear, Save, Load</a:t>
            </a:r>
          </a:p>
          <a:p>
            <a:pPr>
              <a:spcAft>
                <a:spcPts val="960"/>
              </a:spcAft>
              <a:defRPr sz="1600">
                <a:solidFill>
                  <a:srgbClr val="40404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Responsive 1200×800 window with dark theme</a:t>
            </a:r>
          </a:p>
          <a:p>
            <a:pPr>
              <a:spcAft>
                <a:spcPts val="960"/>
              </a:spcAft>
              <a:defRPr sz="1600">
                <a:solidFill>
                  <a:srgbClr val="40404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Real-time compilation with success/error feedback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B0EFCCB-96F0-D3B7-51D2-8B125CE45FDC}"/>
              </a:ext>
            </a:extLst>
          </p:cNvPr>
          <p:cNvGrpSpPr/>
          <p:nvPr/>
        </p:nvGrpSpPr>
        <p:grpSpPr>
          <a:xfrm>
            <a:off x="6335028" y="4096286"/>
            <a:ext cx="5029200" cy="2286000"/>
            <a:chOff x="6400800" y="1463040"/>
            <a:chExt cx="5029200" cy="2286000"/>
          </a:xfrm>
        </p:grpSpPr>
        <p:sp>
          <p:nvSpPr>
            <p:cNvPr id="13" name="Rounded Rectangle 12"/>
            <p:cNvSpPr/>
            <p:nvPr/>
          </p:nvSpPr>
          <p:spPr>
            <a:xfrm>
              <a:off x="6400800" y="1463040"/>
              <a:ext cx="5029200" cy="2286000"/>
            </a:xfrm>
            <a:prstGeom prst="roundRect">
              <a:avLst/>
            </a:prstGeom>
            <a:solidFill>
              <a:srgbClr val="F0F4F8"/>
            </a:solidFill>
            <a:ln w="19050">
              <a:solidFill>
                <a:srgbClr val="0056B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583680" y="1600200"/>
              <a:ext cx="46634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540"/>
                </a:spcAft>
                <a:defRPr sz="1800" b="1">
                  <a:solidFill>
                    <a:srgbClr val="0056B3"/>
                  </a:solidFill>
                  <a:latin typeface="Calibri"/>
                </a:defRPr>
              </a:pPr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🎨 Design Features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83680" y="2011680"/>
              <a:ext cx="4663440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780"/>
                </a:spcAft>
                <a:defRPr sz="1300">
                  <a:solidFill>
                    <a:srgbClr val="404040"/>
                  </a:solidFill>
                  <a:latin typeface="Calibri"/>
                </a:defRPr>
              </a:pPr>
              <a:r>
                <a:rPr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•  Professional dark theme (#2c3e50 palette)</a:t>
              </a:r>
            </a:p>
            <a:p>
              <a:pPr>
                <a:spcAft>
                  <a:spcPts val="780"/>
                </a:spcAft>
                <a:defRPr sz="1300">
                  <a:solidFill>
                    <a:srgbClr val="404040"/>
                  </a:solidFill>
                  <a:latin typeface="Calibri"/>
                </a:defRPr>
              </a:pPr>
              <a:r>
                <a:rPr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•  Consolas monospace font for code</a:t>
              </a:r>
            </a:p>
            <a:p>
              <a:pPr>
                <a:spcAft>
                  <a:spcPts val="780"/>
                </a:spcAft>
                <a:defRPr sz="1300">
                  <a:solidFill>
                    <a:srgbClr val="404040"/>
                  </a:solidFill>
                  <a:latin typeface="Calibri"/>
                </a:defRPr>
              </a:pPr>
              <a:r>
                <a:rPr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•  Color-coded token display (green on dark)</a:t>
              </a:r>
            </a:p>
            <a:p>
              <a:pPr>
                <a:spcAft>
                  <a:spcPts val="780"/>
                </a:spcAft>
                <a:defRPr sz="1300">
                  <a:solidFill>
                    <a:srgbClr val="404040"/>
                  </a:solidFill>
                  <a:latin typeface="Calibri"/>
                </a:defRPr>
              </a:pPr>
              <a:r>
                <a:rPr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•  Emoji icons for visual appeal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FC5A788-FD19-1503-F286-BDDBE87E81D3}"/>
              </a:ext>
            </a:extLst>
          </p:cNvPr>
          <p:cNvGrpSpPr/>
          <p:nvPr/>
        </p:nvGrpSpPr>
        <p:grpSpPr>
          <a:xfrm>
            <a:off x="827772" y="4096286"/>
            <a:ext cx="5029200" cy="2286000"/>
            <a:chOff x="6400800" y="4023360"/>
            <a:chExt cx="5029200" cy="2286000"/>
          </a:xfrm>
        </p:grpSpPr>
        <p:sp>
          <p:nvSpPr>
            <p:cNvPr id="16" name="Rounded Rectangle 15"/>
            <p:cNvSpPr/>
            <p:nvPr/>
          </p:nvSpPr>
          <p:spPr>
            <a:xfrm>
              <a:off x="6400800" y="4023360"/>
              <a:ext cx="5029200" cy="2286000"/>
            </a:xfrm>
            <a:prstGeom prst="roundRect">
              <a:avLst/>
            </a:prstGeom>
            <a:solidFill>
              <a:srgbClr val="F0F4F8"/>
            </a:solidFill>
            <a:ln w="19050">
              <a:solidFill>
                <a:srgbClr val="00806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583680" y="4160520"/>
              <a:ext cx="46634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540"/>
                </a:spcAft>
                <a:defRPr sz="1800" b="1">
                  <a:solidFill>
                    <a:srgbClr val="008060"/>
                  </a:solidFill>
                  <a:latin typeface="Calibri"/>
                </a:defRPr>
              </a:pPr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⚡ Functionality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583680" y="4617720"/>
              <a:ext cx="4663440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780"/>
                </a:spcAft>
                <a:defRPr sz="1300">
                  <a:solidFill>
                    <a:srgbClr val="404040"/>
                  </a:solidFill>
                  <a:latin typeface="Calibri"/>
                </a:defRPr>
              </a:pPr>
              <a:r>
                <a:rPr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•  One-click compilation to any target language</a:t>
              </a:r>
            </a:p>
            <a:p>
              <a:pPr>
                <a:spcAft>
                  <a:spcPts val="780"/>
                </a:spcAft>
                <a:defRPr sz="1300">
                  <a:solidFill>
                    <a:srgbClr val="404040"/>
                  </a:solidFill>
                  <a:latin typeface="Calibri"/>
                </a:defRPr>
              </a:pPr>
              <a:r>
                <a:rPr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•  Save generated code to .c, .</a:t>
              </a:r>
              <a:r>
                <a:rPr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cpp</a:t>
              </a:r>
              <a:r>
                <a:rPr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.java files</a:t>
              </a:r>
            </a:p>
            <a:p>
              <a:pPr>
                <a:spcAft>
                  <a:spcPts val="780"/>
                </a:spcAft>
                <a:defRPr sz="1300">
                  <a:solidFill>
                    <a:srgbClr val="404040"/>
                  </a:solidFill>
                  <a:latin typeface="Calibri"/>
                </a:defRPr>
              </a:pPr>
              <a:r>
                <a:rPr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•  Load pseudo code from .txt files</a:t>
              </a:r>
            </a:p>
            <a:p>
              <a:pPr>
                <a:spcAft>
                  <a:spcPts val="780"/>
                </a:spcAft>
                <a:defRPr sz="1300">
                  <a:solidFill>
                    <a:srgbClr val="404040"/>
                  </a:solidFill>
                  <a:latin typeface="Calibri"/>
                </a:defRPr>
              </a:pPr>
              <a:r>
                <a:rPr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•  Token table with type, value, line, column info</a:t>
              </a:r>
            </a:p>
          </p:txBody>
        </p:sp>
      </p:grpSp>
      <p:grpSp>
        <p:nvGrpSpPr>
          <p:cNvPr id="2" name="Google Shape;109;p21">
            <a:extLst>
              <a:ext uri="{FF2B5EF4-FFF2-40B4-BE49-F238E27FC236}">
                <a16:creationId xmlns:a16="http://schemas.microsoft.com/office/drawing/2014/main" id="{EC3C19AE-3CBB-E24A-95B8-FC6A035C3057}"/>
              </a:ext>
            </a:extLst>
          </p:cNvPr>
          <p:cNvGrpSpPr/>
          <p:nvPr/>
        </p:nvGrpSpPr>
        <p:grpSpPr>
          <a:xfrm>
            <a:off x="1" y="6507099"/>
            <a:ext cx="12191999" cy="386333"/>
            <a:chOff x="0" y="6342887"/>
            <a:chExt cx="12191999" cy="515111"/>
          </a:xfrm>
        </p:grpSpPr>
        <p:pic>
          <p:nvPicPr>
            <p:cNvPr id="3" name="Google Shape;110;p21">
              <a:extLst>
                <a:ext uri="{FF2B5EF4-FFF2-40B4-BE49-F238E27FC236}">
                  <a16:creationId xmlns:a16="http://schemas.microsoft.com/office/drawing/2014/main" id="{5863583D-245A-10C3-954B-1DB532062952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11;p21">
              <a:extLst>
                <a:ext uri="{FF2B5EF4-FFF2-40B4-BE49-F238E27FC236}">
                  <a16:creationId xmlns:a16="http://schemas.microsoft.com/office/drawing/2014/main" id="{760851FD-CB5E-E667-F661-F224FCA946F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112;p21">
              <a:extLst>
                <a:ext uri="{FF2B5EF4-FFF2-40B4-BE49-F238E27FC236}">
                  <a16:creationId xmlns:a16="http://schemas.microsoft.com/office/drawing/2014/main" id="{EFA0CE0C-D053-3787-C084-DBEF741F3F72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146" name="Picture 2" descr="Coding Illustrations - Free Download in SVG, PNG">
            <a:extLst>
              <a:ext uri="{FF2B5EF4-FFF2-40B4-BE49-F238E27FC236}">
                <a16:creationId xmlns:a16="http://schemas.microsoft.com/office/drawing/2014/main" id="{AE42A21E-DB20-B6DE-27E2-89721A669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602" y="681853"/>
            <a:ext cx="3393359" cy="3393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09;p21">
            <a:extLst>
              <a:ext uri="{FF2B5EF4-FFF2-40B4-BE49-F238E27FC236}">
                <a16:creationId xmlns:a16="http://schemas.microsoft.com/office/drawing/2014/main" id="{0388F944-8627-4633-F729-22D83DA155DA}"/>
              </a:ext>
            </a:extLst>
          </p:cNvPr>
          <p:cNvGrpSpPr/>
          <p:nvPr/>
        </p:nvGrpSpPr>
        <p:grpSpPr>
          <a:xfrm>
            <a:off x="0" y="6471667"/>
            <a:ext cx="12191999" cy="386333"/>
            <a:chOff x="0" y="6342887"/>
            <a:chExt cx="12191999" cy="515111"/>
          </a:xfrm>
        </p:grpSpPr>
        <p:pic>
          <p:nvPicPr>
            <p:cNvPr id="5" name="Google Shape;110;p21">
              <a:extLst>
                <a:ext uri="{FF2B5EF4-FFF2-40B4-BE49-F238E27FC236}">
                  <a16:creationId xmlns:a16="http://schemas.microsoft.com/office/drawing/2014/main" id="{059D0E59-336C-4D41-A5F6-BE1C9333DAD1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1;p21">
              <a:extLst>
                <a:ext uri="{FF2B5EF4-FFF2-40B4-BE49-F238E27FC236}">
                  <a16:creationId xmlns:a16="http://schemas.microsoft.com/office/drawing/2014/main" id="{B9F0B3A8-0019-0B79-56F3-06F4F66184BD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112;p21">
              <a:extLst>
                <a:ext uri="{FF2B5EF4-FFF2-40B4-BE49-F238E27FC236}">
                  <a16:creationId xmlns:a16="http://schemas.microsoft.com/office/drawing/2014/main" id="{09846CE6-9AD5-29A5-B906-05D244732812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/>
          <p:cNvSpPr txBox="1"/>
          <p:nvPr/>
        </p:nvSpPr>
        <p:spPr>
          <a:xfrm>
            <a:off x="731520" y="36576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004080"/>
                </a:solidFill>
                <a:latin typeface="Calibri"/>
              </a:defRPr>
            </a:pPr>
            <a:r>
              <a:rPr dirty="0"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Demo — Leap Year Checker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9D1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14300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60606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 code input and generated C output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E9282D8-596B-F7A8-C748-726CCDA10DB9}"/>
              </a:ext>
            </a:extLst>
          </p:cNvPr>
          <p:cNvGrpSpPr/>
          <p:nvPr/>
        </p:nvGrpSpPr>
        <p:grpSpPr>
          <a:xfrm>
            <a:off x="457200" y="1452527"/>
            <a:ext cx="11338560" cy="4832909"/>
            <a:chOff x="457200" y="1452527"/>
            <a:chExt cx="11338560" cy="4832909"/>
          </a:xfrm>
        </p:grpSpPr>
        <p:sp>
          <p:nvSpPr>
            <p:cNvPr id="12" name="TextBox 11"/>
            <p:cNvSpPr txBox="1"/>
            <p:nvPr/>
          </p:nvSpPr>
          <p:spPr>
            <a:xfrm>
              <a:off x="731520" y="1452527"/>
              <a:ext cx="2743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480"/>
                </a:spcAft>
                <a:defRPr sz="1600" b="1">
                  <a:solidFill>
                    <a:srgbClr val="0056B3"/>
                  </a:solidFill>
                  <a:latin typeface="Calibri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📝 Pseudo Code Input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57200" y="1828800"/>
              <a:ext cx="5303520" cy="4389120"/>
            </a:xfrm>
            <a:prstGeom prst="roundRect">
              <a:avLst/>
            </a:prstGeom>
            <a:solidFill>
              <a:srgbClr val="1E1E1E"/>
            </a:solidFill>
            <a:ln w="12700">
              <a:solidFill>
                <a:srgbClr val="304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45682" y="1965960"/>
              <a:ext cx="4146082" cy="4114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00"/>
                </a:spcAft>
                <a:defRPr sz="11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start</a:t>
              </a:r>
            </a:p>
            <a:p>
              <a:pPr>
                <a:spcAft>
                  <a:spcPts val="200"/>
                </a:spcAft>
                <a:defRPr sz="11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declare integer year</a:t>
              </a:r>
            </a:p>
            <a:p>
              <a:pPr>
                <a:spcAft>
                  <a:spcPts val="200"/>
                </a:spcAft>
                <a:defRPr sz="11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set year to 2024</a:t>
              </a:r>
            </a:p>
            <a:p>
              <a:pPr>
                <a:spcAft>
                  <a:spcPts val="200"/>
                </a:spcAft>
                <a:defRPr sz="1100">
                  <a:solidFill>
                    <a:srgbClr val="A6E3A1"/>
                  </a:solidFill>
                  <a:latin typeface="Consolas"/>
                </a:defRPr>
              </a:pPr>
              <a:endParaRPr dirty="0"/>
            </a:p>
            <a:p>
              <a:pPr>
                <a:spcAft>
                  <a:spcPts val="200"/>
                </a:spcAft>
                <a:defRPr sz="11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if year % 4 == 0 then</a:t>
              </a:r>
            </a:p>
            <a:p>
              <a:pPr>
                <a:spcAft>
                  <a:spcPts val="200"/>
                </a:spcAft>
                <a:defRPr sz="11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    if year % 100 == 0 then</a:t>
              </a:r>
            </a:p>
            <a:p>
              <a:pPr>
                <a:spcAft>
                  <a:spcPts val="200"/>
                </a:spcAft>
                <a:defRPr sz="11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        if year % 400 == 0 then</a:t>
              </a:r>
            </a:p>
            <a:p>
              <a:pPr>
                <a:spcAft>
                  <a:spcPts val="200"/>
                </a:spcAft>
                <a:defRPr sz="11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            set </a:t>
              </a:r>
              <a:r>
                <a:rPr dirty="0" err="1"/>
                <a:t>isLeap</a:t>
              </a:r>
              <a:r>
                <a:rPr dirty="0"/>
                <a:t> to 1</a:t>
              </a:r>
            </a:p>
            <a:p>
              <a:pPr>
                <a:spcAft>
                  <a:spcPts val="200"/>
                </a:spcAft>
                <a:defRPr sz="11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        endif</a:t>
              </a:r>
            </a:p>
            <a:p>
              <a:pPr>
                <a:spcAft>
                  <a:spcPts val="200"/>
                </a:spcAft>
                <a:defRPr sz="11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    else</a:t>
              </a:r>
            </a:p>
            <a:p>
              <a:pPr>
                <a:spcAft>
                  <a:spcPts val="200"/>
                </a:spcAft>
                <a:defRPr sz="11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        set </a:t>
              </a:r>
              <a:r>
                <a:rPr dirty="0" err="1"/>
                <a:t>isLeap</a:t>
              </a:r>
              <a:r>
                <a:rPr dirty="0"/>
                <a:t> to 1</a:t>
              </a:r>
            </a:p>
            <a:p>
              <a:pPr>
                <a:spcAft>
                  <a:spcPts val="200"/>
                </a:spcAft>
                <a:defRPr sz="11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    endif</a:t>
              </a:r>
            </a:p>
            <a:p>
              <a:pPr>
                <a:spcAft>
                  <a:spcPts val="200"/>
                </a:spcAft>
                <a:defRPr sz="11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endif</a:t>
              </a:r>
            </a:p>
            <a:p>
              <a:pPr>
                <a:spcAft>
                  <a:spcPts val="200"/>
                </a:spcAft>
                <a:defRPr sz="1100">
                  <a:solidFill>
                    <a:srgbClr val="A6E3A1"/>
                  </a:solidFill>
                  <a:latin typeface="Consolas"/>
                </a:defRPr>
              </a:pPr>
              <a:endParaRPr dirty="0"/>
            </a:p>
            <a:p>
              <a:pPr>
                <a:spcAft>
                  <a:spcPts val="200"/>
                </a:spcAft>
                <a:defRPr sz="11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if </a:t>
              </a:r>
              <a:r>
                <a:rPr dirty="0" err="1"/>
                <a:t>isLeap</a:t>
              </a:r>
              <a:r>
                <a:rPr dirty="0"/>
                <a:t> == 1 then</a:t>
              </a:r>
            </a:p>
            <a:p>
              <a:pPr>
                <a:spcAft>
                  <a:spcPts val="200"/>
                </a:spcAft>
                <a:defRPr sz="11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    print "LEAP YEAR"</a:t>
              </a:r>
            </a:p>
            <a:p>
              <a:pPr>
                <a:spcAft>
                  <a:spcPts val="200"/>
                </a:spcAft>
                <a:defRPr sz="11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else</a:t>
              </a:r>
            </a:p>
            <a:p>
              <a:pPr>
                <a:spcAft>
                  <a:spcPts val="200"/>
                </a:spcAft>
                <a:defRPr sz="11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    print "NOT a leap year"</a:t>
              </a:r>
            </a:p>
            <a:p>
              <a:pPr>
                <a:spcAft>
                  <a:spcPts val="200"/>
                </a:spcAft>
                <a:defRPr sz="11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endif</a:t>
              </a:r>
            </a:p>
            <a:p>
              <a:pPr>
                <a:spcAft>
                  <a:spcPts val="200"/>
                </a:spcAft>
                <a:defRPr sz="11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end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35554" y="1516986"/>
              <a:ext cx="2743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480"/>
                </a:spcAft>
                <a:defRPr sz="1600" b="1">
                  <a:solidFill>
                    <a:srgbClr val="008060"/>
                  </a:solidFill>
                  <a:latin typeface="Calibri"/>
                </a:defRPr>
              </a:pPr>
              <a:r>
                <a:rPr dirty="0"/>
                <a:t>💻 </a:t>
              </a: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Generated</a:t>
              </a:r>
              <a:r>
                <a:rPr dirty="0"/>
                <a:t> C Code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126480" y="1828800"/>
              <a:ext cx="5669280" cy="4389120"/>
            </a:xfrm>
            <a:prstGeom prst="roundRect">
              <a:avLst/>
            </a:prstGeom>
            <a:solidFill>
              <a:srgbClr val="1E1E1E"/>
            </a:solidFill>
            <a:ln w="12700">
              <a:solidFill>
                <a:srgbClr val="304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720840" y="1909879"/>
              <a:ext cx="4665846" cy="43755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00"/>
                </a:spcAft>
                <a:defRPr sz="10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#include &lt;</a:t>
              </a:r>
              <a:r>
                <a:rPr dirty="0" err="1"/>
                <a:t>stdio.h</a:t>
              </a:r>
              <a:r>
                <a:rPr dirty="0"/>
                <a:t>&gt;</a:t>
              </a:r>
            </a:p>
            <a:p>
              <a:pPr>
                <a:spcAft>
                  <a:spcPts val="200"/>
                </a:spcAft>
                <a:defRPr sz="10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#include &lt;</a:t>
              </a:r>
              <a:r>
                <a:rPr dirty="0" err="1"/>
                <a:t>stdlib.h</a:t>
              </a:r>
              <a:r>
                <a:rPr dirty="0"/>
                <a:t>&gt;</a:t>
              </a:r>
            </a:p>
            <a:p>
              <a:pPr>
                <a:spcAft>
                  <a:spcPts val="200"/>
                </a:spcAft>
                <a:defRPr sz="10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#include &lt;</a:t>
              </a:r>
              <a:r>
                <a:rPr dirty="0" err="1"/>
                <a:t>string.h</a:t>
              </a:r>
              <a:r>
                <a:rPr dirty="0"/>
                <a:t>&gt;</a:t>
              </a:r>
            </a:p>
            <a:p>
              <a:pPr>
                <a:spcAft>
                  <a:spcPts val="200"/>
                </a:spcAft>
                <a:defRPr sz="10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#include &lt;</a:t>
              </a:r>
              <a:r>
                <a:rPr dirty="0" err="1"/>
                <a:t>ctype.h</a:t>
              </a:r>
              <a:r>
                <a:rPr dirty="0"/>
                <a:t>&gt;</a:t>
              </a:r>
            </a:p>
            <a:p>
              <a:pPr>
                <a:spcAft>
                  <a:spcPts val="200"/>
                </a:spcAft>
                <a:defRPr sz="1000">
                  <a:solidFill>
                    <a:srgbClr val="A6E3A1"/>
                  </a:solidFill>
                  <a:latin typeface="Consolas"/>
                </a:defRPr>
              </a:pPr>
              <a:endParaRPr dirty="0"/>
            </a:p>
            <a:p>
              <a:pPr>
                <a:spcAft>
                  <a:spcPts val="200"/>
                </a:spcAft>
                <a:defRPr sz="10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int main() {</a:t>
              </a:r>
            </a:p>
            <a:p>
              <a:pPr>
                <a:spcAft>
                  <a:spcPts val="200"/>
                </a:spcAft>
                <a:defRPr sz="10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    int year;</a:t>
              </a:r>
            </a:p>
            <a:p>
              <a:pPr>
                <a:spcAft>
                  <a:spcPts val="200"/>
                </a:spcAft>
                <a:defRPr sz="10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    year = 2024;</a:t>
              </a:r>
            </a:p>
            <a:p>
              <a:pPr>
                <a:spcAft>
                  <a:spcPts val="200"/>
                </a:spcAft>
                <a:defRPr sz="10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    if (year % 4 == 0) {</a:t>
              </a:r>
            </a:p>
            <a:p>
              <a:pPr>
                <a:spcAft>
                  <a:spcPts val="200"/>
                </a:spcAft>
                <a:defRPr sz="10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        if (year % 100 == 0) {</a:t>
              </a:r>
            </a:p>
            <a:p>
              <a:pPr>
                <a:spcAft>
                  <a:spcPts val="200"/>
                </a:spcAft>
                <a:defRPr sz="10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            if (year % 400 == 0) {</a:t>
              </a:r>
            </a:p>
            <a:p>
              <a:pPr>
                <a:spcAft>
                  <a:spcPts val="200"/>
                </a:spcAft>
                <a:defRPr sz="10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                int </a:t>
              </a:r>
              <a:r>
                <a:rPr dirty="0" err="1"/>
                <a:t>isLeap</a:t>
              </a:r>
              <a:r>
                <a:rPr dirty="0"/>
                <a:t> = 1;</a:t>
              </a:r>
            </a:p>
            <a:p>
              <a:pPr>
                <a:spcAft>
                  <a:spcPts val="200"/>
                </a:spcAft>
                <a:defRPr sz="10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            }</a:t>
              </a:r>
            </a:p>
            <a:p>
              <a:pPr>
                <a:spcAft>
                  <a:spcPts val="200"/>
                </a:spcAft>
                <a:defRPr sz="10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        } else {</a:t>
              </a:r>
            </a:p>
            <a:p>
              <a:pPr>
                <a:spcAft>
                  <a:spcPts val="200"/>
                </a:spcAft>
                <a:defRPr sz="10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            int </a:t>
              </a:r>
              <a:r>
                <a:rPr dirty="0" err="1"/>
                <a:t>isLeap</a:t>
              </a:r>
              <a:r>
                <a:rPr dirty="0"/>
                <a:t> = 1;</a:t>
              </a:r>
            </a:p>
            <a:p>
              <a:pPr>
                <a:spcAft>
                  <a:spcPts val="200"/>
                </a:spcAft>
                <a:defRPr sz="10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        }</a:t>
              </a:r>
            </a:p>
            <a:p>
              <a:pPr>
                <a:spcAft>
                  <a:spcPts val="200"/>
                </a:spcAft>
                <a:defRPr sz="10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    }</a:t>
              </a:r>
            </a:p>
            <a:p>
              <a:pPr>
                <a:spcAft>
                  <a:spcPts val="200"/>
                </a:spcAft>
                <a:defRPr sz="10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    if (</a:t>
              </a:r>
              <a:r>
                <a:rPr dirty="0" err="1"/>
                <a:t>isLeap</a:t>
              </a:r>
              <a:r>
                <a:rPr dirty="0"/>
                <a:t> == 1) {</a:t>
              </a:r>
            </a:p>
            <a:p>
              <a:pPr>
                <a:spcAft>
                  <a:spcPts val="200"/>
                </a:spcAft>
                <a:defRPr sz="10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        </a:t>
              </a:r>
              <a:r>
                <a:rPr dirty="0" err="1"/>
                <a:t>printf</a:t>
              </a:r>
              <a:r>
                <a:rPr dirty="0"/>
                <a:t>("LEAP YEAR\n");</a:t>
              </a:r>
            </a:p>
            <a:p>
              <a:pPr>
                <a:spcAft>
                  <a:spcPts val="200"/>
                </a:spcAft>
                <a:defRPr sz="10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    } else {</a:t>
              </a:r>
            </a:p>
            <a:p>
              <a:pPr>
                <a:spcAft>
                  <a:spcPts val="200"/>
                </a:spcAft>
                <a:defRPr sz="10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        </a:t>
              </a:r>
              <a:r>
                <a:rPr dirty="0" err="1"/>
                <a:t>printf</a:t>
              </a:r>
              <a:r>
                <a:rPr dirty="0"/>
                <a:t>("NOT a leap year\n");</a:t>
              </a:r>
            </a:p>
            <a:p>
              <a:pPr>
                <a:spcAft>
                  <a:spcPts val="200"/>
                </a:spcAft>
                <a:defRPr sz="10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    }</a:t>
              </a:r>
            </a:p>
            <a:p>
              <a:pPr>
                <a:spcAft>
                  <a:spcPts val="200"/>
                </a:spcAft>
                <a:defRPr sz="10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    return 0;</a:t>
              </a:r>
            </a:p>
            <a:p>
              <a:pPr>
                <a:spcAft>
                  <a:spcPts val="200"/>
                </a:spcAft>
                <a:defRPr sz="1000">
                  <a:solidFill>
                    <a:srgbClr val="A6E3A1"/>
                  </a:solidFill>
                  <a:latin typeface="Consolas"/>
                </a:defRPr>
              </a:pPr>
              <a:r>
                <a:rPr dirty="0"/>
                <a:t>}</a:t>
              </a:r>
            </a:p>
          </p:txBody>
        </p:sp>
      </p:grpSp>
      <p:grpSp>
        <p:nvGrpSpPr>
          <p:cNvPr id="2" name="Google Shape;109;p21">
            <a:extLst>
              <a:ext uri="{FF2B5EF4-FFF2-40B4-BE49-F238E27FC236}">
                <a16:creationId xmlns:a16="http://schemas.microsoft.com/office/drawing/2014/main" id="{006A8A41-B02E-0558-2AE9-6DF28F3CC1D7}"/>
              </a:ext>
            </a:extLst>
          </p:cNvPr>
          <p:cNvGrpSpPr/>
          <p:nvPr/>
        </p:nvGrpSpPr>
        <p:grpSpPr>
          <a:xfrm>
            <a:off x="0" y="6507099"/>
            <a:ext cx="12191999" cy="386333"/>
            <a:chOff x="0" y="6342887"/>
            <a:chExt cx="12191999" cy="515111"/>
          </a:xfrm>
        </p:grpSpPr>
        <p:pic>
          <p:nvPicPr>
            <p:cNvPr id="3" name="Google Shape;110;p21">
              <a:extLst>
                <a:ext uri="{FF2B5EF4-FFF2-40B4-BE49-F238E27FC236}">
                  <a16:creationId xmlns:a16="http://schemas.microsoft.com/office/drawing/2014/main" id="{7BB51E87-90B0-BF67-1F66-04C1D79C781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11;p21">
              <a:extLst>
                <a:ext uri="{FF2B5EF4-FFF2-40B4-BE49-F238E27FC236}">
                  <a16:creationId xmlns:a16="http://schemas.microsoft.com/office/drawing/2014/main" id="{3BA2C31A-EAFF-94F1-92DC-51CD5DC5C49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12;p21">
              <a:extLst>
                <a:ext uri="{FF2B5EF4-FFF2-40B4-BE49-F238E27FC236}">
                  <a16:creationId xmlns:a16="http://schemas.microsoft.com/office/drawing/2014/main" id="{35F37B00-1DAF-36B9-1FA4-D1FD232929EF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31520" y="36576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004080"/>
                </a:solidFill>
                <a:latin typeface="Calibri"/>
              </a:defRPr>
            </a:pPr>
            <a:r>
              <a:rPr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9D1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F00FB93-C384-D0AC-3F06-AD58F005DA14}"/>
              </a:ext>
            </a:extLst>
          </p:cNvPr>
          <p:cNvGrpSpPr/>
          <p:nvPr/>
        </p:nvGrpSpPr>
        <p:grpSpPr>
          <a:xfrm>
            <a:off x="914400" y="1280159"/>
            <a:ext cx="7772400" cy="4458168"/>
            <a:chOff x="914400" y="1280159"/>
            <a:chExt cx="7772400" cy="4458168"/>
          </a:xfrm>
        </p:grpSpPr>
        <p:sp>
          <p:nvSpPr>
            <p:cNvPr id="11" name="Oval 10"/>
            <p:cNvSpPr/>
            <p:nvPr/>
          </p:nvSpPr>
          <p:spPr>
            <a:xfrm>
              <a:off x="914400" y="1371599"/>
              <a:ext cx="228600" cy="228600"/>
            </a:xfrm>
            <a:prstGeom prst="ellipse">
              <a:avLst/>
            </a:prstGeom>
            <a:solidFill>
              <a:srgbClr val="0056B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371600" y="1280159"/>
              <a:ext cx="36576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600"/>
                </a:spcAft>
                <a:defRPr sz="2000" b="1">
                  <a:solidFill>
                    <a:srgbClr val="0056B3"/>
                  </a:solidFill>
                  <a:latin typeface="Calibri"/>
                </a:defRPr>
              </a:pPr>
              <a:r>
                <a:rPr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Python 3.x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371600" y="1742173"/>
              <a:ext cx="7315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420"/>
                </a:spcAft>
                <a:defRPr sz="1400" b="0">
                  <a:solidFill>
                    <a:srgbClr val="404040"/>
                  </a:solidFill>
                  <a:latin typeface="Calibri"/>
                </a:defRPr>
              </a:pPr>
              <a:r>
                <a:rPr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Core programming language for the entire compiler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914400" y="2285999"/>
              <a:ext cx="228600" cy="228600"/>
            </a:xfrm>
            <a:prstGeom prst="ellipse">
              <a:avLst/>
            </a:prstGeom>
            <a:solidFill>
              <a:srgbClr val="008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371600" y="2194559"/>
              <a:ext cx="36576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600"/>
                </a:spcAft>
                <a:defRPr sz="2000" b="1">
                  <a:solidFill>
                    <a:srgbClr val="008060"/>
                  </a:solidFill>
                  <a:latin typeface="Calibri"/>
                </a:defRPr>
              </a:pPr>
              <a:r>
                <a:rPr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Tkinter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371600" y="2656573"/>
              <a:ext cx="7315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420"/>
                </a:spcAft>
                <a:defRPr sz="1400" b="0">
                  <a:solidFill>
                    <a:srgbClr val="404040"/>
                  </a:solidFill>
                  <a:latin typeface="Calibri"/>
                </a:defRPr>
              </a:pPr>
              <a:r>
                <a:rPr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GUI framework for the desktop application interface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914400" y="3200399"/>
              <a:ext cx="228600" cy="228600"/>
            </a:xfrm>
            <a:prstGeom prst="ellipse">
              <a:avLst/>
            </a:prstGeom>
            <a:solidFill>
              <a:srgbClr val="3B00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371600" y="3108959"/>
              <a:ext cx="36576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600"/>
                </a:spcAft>
                <a:defRPr sz="2000" b="1">
                  <a:solidFill>
                    <a:srgbClr val="3B0069"/>
                  </a:solidFill>
                  <a:latin typeface="Calibri"/>
                </a:defRPr>
              </a:pPr>
              <a:r>
                <a:rPr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Regular Expressions 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71600" y="3570973"/>
              <a:ext cx="7315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420"/>
                </a:spcAft>
                <a:defRPr sz="1400" b="0">
                  <a:solidFill>
                    <a:srgbClr val="404040"/>
                  </a:solidFill>
                  <a:latin typeface="Calibri"/>
                </a:defRPr>
              </a:pPr>
              <a:r>
                <a:rPr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Pattern matching for C++ expression conversion</a:t>
              </a:r>
            </a:p>
          </p:txBody>
        </p:sp>
        <p:sp>
          <p:nvSpPr>
            <p:cNvPr id="20" name="Oval 19"/>
            <p:cNvSpPr/>
            <p:nvPr/>
          </p:nvSpPr>
          <p:spPr>
            <a:xfrm>
              <a:off x="914400" y="4114799"/>
              <a:ext cx="228600" cy="228600"/>
            </a:xfrm>
            <a:prstGeom prst="ellipse">
              <a:avLst/>
            </a:prstGeom>
            <a:solidFill>
              <a:srgbClr val="CC55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371600" y="4023359"/>
              <a:ext cx="36576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600"/>
                </a:spcAft>
                <a:defRPr sz="2000" b="1">
                  <a:solidFill>
                    <a:srgbClr val="CC5500"/>
                  </a:solidFill>
                  <a:latin typeface="Calibri"/>
                </a:defRPr>
              </a:pPr>
              <a:r>
                <a:rPr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Enum &amp; Dataclass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371600" y="4485373"/>
              <a:ext cx="7315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420"/>
                </a:spcAft>
                <a:defRPr sz="1400" b="0">
                  <a:solidFill>
                    <a:srgbClr val="404040"/>
                  </a:solidFill>
                  <a:latin typeface="Calibri"/>
                </a:defRPr>
              </a:pPr>
              <a:r>
                <a:rPr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Token type definitions and structured token data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914400" y="5029199"/>
              <a:ext cx="228600" cy="228600"/>
            </a:xfrm>
            <a:prstGeom prst="ellipse">
              <a:avLst/>
            </a:prstGeom>
            <a:solidFill>
              <a:srgbClr val="27AE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371600" y="4937759"/>
              <a:ext cx="451673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600"/>
                </a:spcAft>
                <a:defRPr sz="2000" b="1">
                  <a:solidFill>
                    <a:srgbClr val="27AE60"/>
                  </a:solidFill>
                  <a:latin typeface="Calibri"/>
                </a:defRPr>
              </a:pPr>
              <a:r>
                <a:rPr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Object-Oriented Design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371600" y="5399773"/>
              <a:ext cx="7315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420"/>
                </a:spcAft>
                <a:defRPr sz="1400" b="0">
                  <a:solidFill>
                    <a:srgbClr val="404040"/>
                  </a:solidFill>
                  <a:latin typeface="Calibri"/>
                </a:defRPr>
              </a:pPr>
              <a:r>
                <a:rPr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Separate classes for Lexer, Parser, Generators, GUI</a:t>
              </a:r>
            </a:p>
          </p:txBody>
        </p:sp>
      </p:grpSp>
      <p:grpSp>
        <p:nvGrpSpPr>
          <p:cNvPr id="2" name="Google Shape;109;p21">
            <a:extLst>
              <a:ext uri="{FF2B5EF4-FFF2-40B4-BE49-F238E27FC236}">
                <a16:creationId xmlns:a16="http://schemas.microsoft.com/office/drawing/2014/main" id="{0EB14EC0-2864-D052-325E-F4DBEA247671}"/>
              </a:ext>
            </a:extLst>
          </p:cNvPr>
          <p:cNvGrpSpPr/>
          <p:nvPr/>
        </p:nvGrpSpPr>
        <p:grpSpPr>
          <a:xfrm>
            <a:off x="1" y="6507099"/>
            <a:ext cx="12191999" cy="386333"/>
            <a:chOff x="0" y="6342887"/>
            <a:chExt cx="12191999" cy="515111"/>
          </a:xfrm>
        </p:grpSpPr>
        <p:pic>
          <p:nvPicPr>
            <p:cNvPr id="3" name="Google Shape;110;p21">
              <a:extLst>
                <a:ext uri="{FF2B5EF4-FFF2-40B4-BE49-F238E27FC236}">
                  <a16:creationId xmlns:a16="http://schemas.microsoft.com/office/drawing/2014/main" id="{A4E428C2-B634-EF95-80D4-AB21771A7BE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111;p21">
              <a:extLst>
                <a:ext uri="{FF2B5EF4-FFF2-40B4-BE49-F238E27FC236}">
                  <a16:creationId xmlns:a16="http://schemas.microsoft.com/office/drawing/2014/main" id="{1F47A17F-061D-BF79-3C7A-3C80566BD17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112;p21">
              <a:extLst>
                <a:ext uri="{FF2B5EF4-FFF2-40B4-BE49-F238E27FC236}">
                  <a16:creationId xmlns:a16="http://schemas.microsoft.com/office/drawing/2014/main" id="{FB50AB1A-21FA-47C2-452D-13BCB48B1AC0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09;p21">
            <a:extLst>
              <a:ext uri="{FF2B5EF4-FFF2-40B4-BE49-F238E27FC236}">
                <a16:creationId xmlns:a16="http://schemas.microsoft.com/office/drawing/2014/main" id="{0388F944-8627-4633-F729-22D83DA155DA}"/>
              </a:ext>
            </a:extLst>
          </p:cNvPr>
          <p:cNvGrpSpPr/>
          <p:nvPr/>
        </p:nvGrpSpPr>
        <p:grpSpPr>
          <a:xfrm>
            <a:off x="0" y="6471667"/>
            <a:ext cx="12191999" cy="386333"/>
            <a:chOff x="0" y="6342887"/>
            <a:chExt cx="12191999" cy="515111"/>
          </a:xfrm>
        </p:grpSpPr>
        <p:pic>
          <p:nvPicPr>
            <p:cNvPr id="5" name="Google Shape;110;p21">
              <a:extLst>
                <a:ext uri="{FF2B5EF4-FFF2-40B4-BE49-F238E27FC236}">
                  <a16:creationId xmlns:a16="http://schemas.microsoft.com/office/drawing/2014/main" id="{059D0E59-336C-4D41-A5F6-BE1C9333DAD1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1;p21">
              <a:extLst>
                <a:ext uri="{FF2B5EF4-FFF2-40B4-BE49-F238E27FC236}">
                  <a16:creationId xmlns:a16="http://schemas.microsoft.com/office/drawing/2014/main" id="{B9F0B3A8-0019-0B79-56F3-06F4F66184BD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112;p21">
              <a:extLst>
                <a:ext uri="{FF2B5EF4-FFF2-40B4-BE49-F238E27FC236}">
                  <a16:creationId xmlns:a16="http://schemas.microsoft.com/office/drawing/2014/main" id="{09846CE6-9AD5-29A5-B906-05D244732812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/>
          <p:cNvSpPr txBox="1"/>
          <p:nvPr/>
        </p:nvSpPr>
        <p:spPr>
          <a:xfrm>
            <a:off x="731520" y="36576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004080"/>
                </a:solidFill>
                <a:latin typeface="Calibri"/>
              </a:defRPr>
            </a:pPr>
            <a:r>
              <a:rPr dirty="0"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9D1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1520" y="1645920"/>
            <a:ext cx="5303520" cy="12801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08060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🐍 Python Code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94560"/>
            <a:ext cx="4937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404040"/>
                </a:solidFill>
                <a:latin typeface="Calibri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Add Python as a fourth target language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00400"/>
            <a:ext cx="5303520" cy="12801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3337560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08060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🔧 Semantic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40"/>
            <a:ext cx="4937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404040"/>
                </a:solidFill>
                <a:latin typeface="Calibri"/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 Type checking, scope validation, and semantic error detection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5303520" cy="12801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4892040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08060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📦 Array &amp; Data Structure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4937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404040"/>
                </a:solidFill>
                <a:latin typeface="Calibri"/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 Multi-dimensional arrays, linked lists, and custom types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1645920"/>
            <a:ext cx="5303520" cy="12801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75120" y="1783080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056B3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⚡ Optimization 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94560"/>
            <a:ext cx="4937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404040"/>
                </a:solidFill>
                <a:latin typeface="Calibri"/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 Dead code elimination, constant folding, loop optimization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200400"/>
            <a:ext cx="5303520" cy="12801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75120" y="3337560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056B3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🌐 Web-Based Interface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749040"/>
            <a:ext cx="4937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404040"/>
                </a:solidFill>
                <a:latin typeface="Calibri"/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 Convert the Tkinter GUI to a web app using Flask or Django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4754880"/>
            <a:ext cx="5303520" cy="12801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75120" y="4892040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056B3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📄 HTML/CSS Generation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303520"/>
            <a:ext cx="4937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404040"/>
                </a:solidFill>
                <a:latin typeface="Calibri"/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 Generate web page code from pseudo code descriptions</a:t>
            </a:r>
          </a:p>
        </p:txBody>
      </p:sp>
      <p:grpSp>
        <p:nvGrpSpPr>
          <p:cNvPr id="2" name="Google Shape;109;p21">
            <a:extLst>
              <a:ext uri="{FF2B5EF4-FFF2-40B4-BE49-F238E27FC236}">
                <a16:creationId xmlns:a16="http://schemas.microsoft.com/office/drawing/2014/main" id="{C7797716-B259-4B3A-5B97-DCA757905CF9}"/>
              </a:ext>
            </a:extLst>
          </p:cNvPr>
          <p:cNvGrpSpPr/>
          <p:nvPr/>
        </p:nvGrpSpPr>
        <p:grpSpPr>
          <a:xfrm>
            <a:off x="0" y="6486102"/>
            <a:ext cx="12191999" cy="386333"/>
            <a:chOff x="0" y="6342887"/>
            <a:chExt cx="12191999" cy="515111"/>
          </a:xfrm>
        </p:grpSpPr>
        <p:pic>
          <p:nvPicPr>
            <p:cNvPr id="3" name="Google Shape;110;p21">
              <a:extLst>
                <a:ext uri="{FF2B5EF4-FFF2-40B4-BE49-F238E27FC236}">
                  <a16:creationId xmlns:a16="http://schemas.microsoft.com/office/drawing/2014/main" id="{CB538D6F-5AAB-E498-1D01-8554E21F0557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111;p21">
              <a:extLst>
                <a:ext uri="{FF2B5EF4-FFF2-40B4-BE49-F238E27FC236}">
                  <a16:creationId xmlns:a16="http://schemas.microsoft.com/office/drawing/2014/main" id="{F2AF718E-A25D-84A5-64E2-088FDCC8DA2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112;p21">
              <a:extLst>
                <a:ext uri="{FF2B5EF4-FFF2-40B4-BE49-F238E27FC236}">
                  <a16:creationId xmlns:a16="http://schemas.microsoft.com/office/drawing/2014/main" id="{54A0AEF7-4E08-630B-DD13-1FFB541C59D7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45957" y="441805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004080"/>
                </a:solidFill>
                <a:latin typeface="Calibri"/>
              </a:defRPr>
            </a:pPr>
            <a:r>
              <a:rPr dirty="0"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9D1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10515600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40404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Successfully built a complete pseudo code compiler that covers all four phases of compilation: Lexical Analysis, Parsing, AST Construction, and Code Generation.</a:t>
            </a:r>
          </a:p>
          <a:p>
            <a:pPr>
              <a:spcAft>
                <a:spcPts val="1019"/>
              </a:spcAft>
              <a:defRPr sz="1700">
                <a:solidFill>
                  <a:srgbClr val="40404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The system generates syntactically correct,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compilable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in C, C++, and Java from simple pseudo code input.</a:t>
            </a:r>
          </a:p>
          <a:p>
            <a:pPr>
              <a:spcAft>
                <a:spcPts val="1019"/>
              </a:spcAft>
              <a:defRPr sz="1700">
                <a:solidFill>
                  <a:srgbClr val="40404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The modular OOP architecture makes it easy to add new target languages and language constructs.</a:t>
            </a:r>
          </a:p>
          <a:p>
            <a:pPr>
              <a:spcAft>
                <a:spcPts val="1019"/>
              </a:spcAft>
              <a:defRPr sz="1700">
                <a:solidFill>
                  <a:srgbClr val="40404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The interactive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GUI with token visualization makes it an excellent educational tool for understanding compiler design.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21B2FD2-3F0C-A065-BFCB-BC620566287F}"/>
              </a:ext>
            </a:extLst>
          </p:cNvPr>
          <p:cNvGrpSpPr/>
          <p:nvPr/>
        </p:nvGrpSpPr>
        <p:grpSpPr>
          <a:xfrm>
            <a:off x="654517" y="4350618"/>
            <a:ext cx="10789920" cy="1497901"/>
            <a:chOff x="914400" y="4572000"/>
            <a:chExt cx="10789920" cy="1497901"/>
          </a:xfrm>
        </p:grpSpPr>
        <p:sp>
          <p:nvSpPr>
            <p:cNvPr id="12" name="Rounded Rectangle 11"/>
            <p:cNvSpPr/>
            <p:nvPr/>
          </p:nvSpPr>
          <p:spPr>
            <a:xfrm>
              <a:off x="960120" y="4606861"/>
              <a:ext cx="2286000" cy="1463040"/>
            </a:xfrm>
            <a:prstGeom prst="roundRect">
              <a:avLst/>
            </a:prstGeom>
            <a:solidFill>
              <a:srgbClr val="F0F4F8"/>
            </a:solidFill>
            <a:ln w="19050">
              <a:solidFill>
                <a:srgbClr val="0056B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14400" y="4754880"/>
              <a:ext cx="2286000" cy="640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1080"/>
                </a:spcAft>
                <a:defRPr sz="3600" b="1">
                  <a:solidFill>
                    <a:srgbClr val="008060"/>
                  </a:solidFill>
                  <a:latin typeface="Calibri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1,300+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4400" y="5394960"/>
              <a:ext cx="2286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420"/>
                </a:spcAft>
                <a:defRPr sz="1400" b="0">
                  <a:solidFill>
                    <a:srgbClr val="404040"/>
                  </a:solidFill>
                  <a:latin typeface="Calibri"/>
                </a:defRPr>
              </a:pPr>
              <a:r>
                <a:rPr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Lines of Code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749040" y="4572000"/>
              <a:ext cx="2286000" cy="1463040"/>
            </a:xfrm>
            <a:prstGeom prst="roundRect">
              <a:avLst/>
            </a:prstGeom>
            <a:solidFill>
              <a:srgbClr val="F0F4F8"/>
            </a:solidFill>
            <a:ln w="19050">
              <a:solidFill>
                <a:srgbClr val="0056B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749040" y="4754880"/>
              <a:ext cx="2286000" cy="640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1080"/>
                </a:spcAft>
                <a:defRPr sz="3600" b="1">
                  <a:solidFill>
                    <a:srgbClr val="008060"/>
                  </a:solidFill>
                  <a:latin typeface="Calibri"/>
                </a:defRPr>
              </a:pPr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30+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749040" y="5394960"/>
              <a:ext cx="2286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420"/>
                </a:spcAft>
                <a:defRPr sz="1400" b="0">
                  <a:solidFill>
                    <a:srgbClr val="404040"/>
                  </a:solidFill>
                  <a:latin typeface="Calibri"/>
                </a:defRPr>
              </a:pPr>
              <a:r>
                <a:rPr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Token Types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583680" y="4572000"/>
              <a:ext cx="2286000" cy="1463040"/>
            </a:xfrm>
            <a:prstGeom prst="roundRect">
              <a:avLst/>
            </a:prstGeom>
            <a:solidFill>
              <a:srgbClr val="F0F4F8"/>
            </a:solidFill>
            <a:ln w="19050">
              <a:solidFill>
                <a:srgbClr val="0056B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83680" y="4754880"/>
              <a:ext cx="2286000" cy="640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1080"/>
                </a:spcAft>
                <a:defRPr sz="3600" b="1">
                  <a:solidFill>
                    <a:srgbClr val="008060"/>
                  </a:solidFill>
                  <a:latin typeface="Calibri"/>
                </a:defRPr>
              </a:pPr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10+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83680" y="5394960"/>
              <a:ext cx="2286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420"/>
                </a:spcAft>
                <a:defRPr sz="1400" b="0">
                  <a:solidFill>
                    <a:srgbClr val="404040"/>
                  </a:solidFill>
                  <a:latin typeface="Calibri"/>
                </a:defRPr>
              </a:pPr>
              <a:r>
                <a:rPr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AST Node Types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418320" y="4572000"/>
              <a:ext cx="2286000" cy="1463040"/>
            </a:xfrm>
            <a:prstGeom prst="roundRect">
              <a:avLst/>
            </a:prstGeom>
            <a:solidFill>
              <a:srgbClr val="F0F4F8"/>
            </a:solidFill>
            <a:ln w="19050">
              <a:solidFill>
                <a:srgbClr val="0056B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418320" y="4754880"/>
              <a:ext cx="2286000" cy="640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1080"/>
                </a:spcAft>
                <a:defRPr sz="3600" b="1">
                  <a:solidFill>
                    <a:srgbClr val="008060"/>
                  </a:solidFill>
                  <a:latin typeface="Calibri"/>
                </a:defRPr>
              </a:pPr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418320" y="5394960"/>
              <a:ext cx="2286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420"/>
                </a:spcAft>
                <a:defRPr sz="1400" b="0">
                  <a:solidFill>
                    <a:srgbClr val="404040"/>
                  </a:solidFill>
                  <a:latin typeface="Calibri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Target </a:t>
              </a:r>
              <a:r>
                <a:rPr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Languages</a:t>
              </a: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Google Shape;109;p21">
            <a:extLst>
              <a:ext uri="{FF2B5EF4-FFF2-40B4-BE49-F238E27FC236}">
                <a16:creationId xmlns:a16="http://schemas.microsoft.com/office/drawing/2014/main" id="{E982B983-2667-7BFC-27BE-1CEE20D13A40}"/>
              </a:ext>
            </a:extLst>
          </p:cNvPr>
          <p:cNvGrpSpPr/>
          <p:nvPr/>
        </p:nvGrpSpPr>
        <p:grpSpPr>
          <a:xfrm>
            <a:off x="0" y="6507099"/>
            <a:ext cx="12191999" cy="386333"/>
            <a:chOff x="0" y="6342887"/>
            <a:chExt cx="12191999" cy="515111"/>
          </a:xfrm>
        </p:grpSpPr>
        <p:pic>
          <p:nvPicPr>
            <p:cNvPr id="3" name="Google Shape;110;p21">
              <a:extLst>
                <a:ext uri="{FF2B5EF4-FFF2-40B4-BE49-F238E27FC236}">
                  <a16:creationId xmlns:a16="http://schemas.microsoft.com/office/drawing/2014/main" id="{B060E6BD-D721-E6C1-3F83-688740E72760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111;p21">
              <a:extLst>
                <a:ext uri="{FF2B5EF4-FFF2-40B4-BE49-F238E27FC236}">
                  <a16:creationId xmlns:a16="http://schemas.microsoft.com/office/drawing/2014/main" id="{F2B8785F-24E7-10FE-A1DE-6CB77E59657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112;p21">
              <a:extLst>
                <a:ext uri="{FF2B5EF4-FFF2-40B4-BE49-F238E27FC236}">
                  <a16:creationId xmlns:a16="http://schemas.microsoft.com/office/drawing/2014/main" id="{7BF7340B-68E0-2BB5-E3AE-89A8A31A9BA0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A7AC2-A504-AD84-3CC2-BC6A6BC70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FB2BB-2DB2-A2C9-DA64-BB86D1EEE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4039" y="2226957"/>
            <a:ext cx="9503919" cy="175449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we interested in publishing a research paper based on this project?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☐ Yes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☑ No</a:t>
            </a:r>
          </a:p>
          <a:p>
            <a:pPr marL="0" indent="0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oogle Shape;109;p21">
            <a:extLst>
              <a:ext uri="{FF2B5EF4-FFF2-40B4-BE49-F238E27FC236}">
                <a16:creationId xmlns:a16="http://schemas.microsoft.com/office/drawing/2014/main" id="{196AFB28-14CA-A414-C1C8-94C458BDCA37}"/>
              </a:ext>
            </a:extLst>
          </p:cNvPr>
          <p:cNvGrpSpPr/>
          <p:nvPr/>
        </p:nvGrpSpPr>
        <p:grpSpPr>
          <a:xfrm>
            <a:off x="0" y="6471667"/>
            <a:ext cx="12191999" cy="386333"/>
            <a:chOff x="0" y="6342887"/>
            <a:chExt cx="12191999" cy="515111"/>
          </a:xfrm>
        </p:grpSpPr>
        <p:pic>
          <p:nvPicPr>
            <p:cNvPr id="5" name="Google Shape;110;p21">
              <a:extLst>
                <a:ext uri="{FF2B5EF4-FFF2-40B4-BE49-F238E27FC236}">
                  <a16:creationId xmlns:a16="http://schemas.microsoft.com/office/drawing/2014/main" id="{B5C4AB7A-A7C9-562C-F1F6-8B4D55404E3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1;p21">
              <a:extLst>
                <a:ext uri="{FF2B5EF4-FFF2-40B4-BE49-F238E27FC236}">
                  <a16:creationId xmlns:a16="http://schemas.microsoft.com/office/drawing/2014/main" id="{D305013D-B277-C1EC-46A4-0E9C667685A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112;p21">
              <a:extLst>
                <a:ext uri="{FF2B5EF4-FFF2-40B4-BE49-F238E27FC236}">
                  <a16:creationId xmlns:a16="http://schemas.microsoft.com/office/drawing/2014/main" id="{C1E04CED-8773-0D77-D7CA-38C42F3DE70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7DEC0D2-ACB5-2A7D-F3EA-DD7A11D5F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48210"/>
            <a:ext cx="10515600" cy="966265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9D1547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Research Paper Interest</a:t>
            </a:r>
            <a:endParaRPr lang="en-IN" sz="3800" dirty="0">
              <a:solidFill>
                <a:srgbClr val="0000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0A85EA-2CE0-D71B-7DEE-5135B1F55814}"/>
              </a:ext>
            </a:extLst>
          </p:cNvPr>
          <p:cNvSpPr/>
          <p:nvPr/>
        </p:nvSpPr>
        <p:spPr>
          <a:xfrm>
            <a:off x="838199" y="1318260"/>
            <a:ext cx="2743200" cy="36576"/>
          </a:xfrm>
          <a:prstGeom prst="rect">
            <a:avLst/>
          </a:prstGeom>
          <a:solidFill>
            <a:srgbClr val="9D1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015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oogle Shape;109;p21">
            <a:extLst>
              <a:ext uri="{FF2B5EF4-FFF2-40B4-BE49-F238E27FC236}">
                <a16:creationId xmlns:a16="http://schemas.microsoft.com/office/drawing/2014/main" id="{570BF752-A053-1262-93D9-7BBC3D7C9E11}"/>
              </a:ext>
            </a:extLst>
          </p:cNvPr>
          <p:cNvGrpSpPr/>
          <p:nvPr/>
        </p:nvGrpSpPr>
        <p:grpSpPr>
          <a:xfrm>
            <a:off x="1" y="6444235"/>
            <a:ext cx="12191999" cy="386333"/>
            <a:chOff x="0" y="6342887"/>
            <a:chExt cx="12191999" cy="515111"/>
          </a:xfrm>
        </p:grpSpPr>
        <p:pic>
          <p:nvPicPr>
            <p:cNvPr id="21" name="Google Shape;110;p21">
              <a:extLst>
                <a:ext uri="{FF2B5EF4-FFF2-40B4-BE49-F238E27FC236}">
                  <a16:creationId xmlns:a16="http://schemas.microsoft.com/office/drawing/2014/main" id="{DDAE0F00-16D2-53A9-3AF8-9E2441B6D20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111;p21">
              <a:extLst>
                <a:ext uri="{FF2B5EF4-FFF2-40B4-BE49-F238E27FC236}">
                  <a16:creationId xmlns:a16="http://schemas.microsoft.com/office/drawing/2014/main" id="{8A12D535-787D-C58C-8607-E172C5E0783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112;p21">
              <a:extLst>
                <a:ext uri="{FF2B5EF4-FFF2-40B4-BE49-F238E27FC236}">
                  <a16:creationId xmlns:a16="http://schemas.microsoft.com/office/drawing/2014/main" id="{78EF99E3-EC4C-266C-52AC-6536DC0516E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0C6B4D0-C532-E87D-DFF3-5A2F80E51E65}"/>
              </a:ext>
            </a:extLst>
          </p:cNvPr>
          <p:cNvGrpSpPr/>
          <p:nvPr/>
        </p:nvGrpSpPr>
        <p:grpSpPr>
          <a:xfrm>
            <a:off x="1897759" y="1688834"/>
            <a:ext cx="8396479" cy="3043155"/>
            <a:chOff x="914400" y="2751022"/>
            <a:chExt cx="10058400" cy="3043155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12F74F1-B931-9DF6-B58D-3D3469A7315E}"/>
                </a:ext>
              </a:extLst>
            </p:cNvPr>
            <p:cNvSpPr txBox="1"/>
            <p:nvPr/>
          </p:nvSpPr>
          <p:spPr>
            <a:xfrm>
              <a:off x="914400" y="2751022"/>
              <a:ext cx="10058400" cy="120032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spcAft>
                  <a:spcPts val="1620"/>
                </a:spcAft>
                <a:defRPr sz="5400" b="1">
                  <a:solidFill>
                    <a:srgbClr val="020202"/>
                  </a:solidFill>
                  <a:latin typeface="Calibri"/>
                </a:defRPr>
              </a:pPr>
              <a:r>
                <a:rPr sz="7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Thank You!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1D5EF6E-7EC7-F9B5-2EEE-F27E71BDB4D8}"/>
                </a:ext>
              </a:extLst>
            </p:cNvPr>
            <p:cNvSpPr/>
            <p:nvPr/>
          </p:nvSpPr>
          <p:spPr>
            <a:xfrm>
              <a:off x="3977640" y="3912489"/>
              <a:ext cx="3931920" cy="36576"/>
            </a:xfrm>
            <a:prstGeom prst="rect">
              <a:avLst/>
            </a:prstGeom>
            <a:solidFill>
              <a:srgbClr val="9D15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>
                <a:solidFill>
                  <a:srgbClr val="9D1547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BB7BA84-61C5-C9EA-BCED-046BB8467563}"/>
                </a:ext>
              </a:extLst>
            </p:cNvPr>
            <p:cNvSpPr txBox="1"/>
            <p:nvPr/>
          </p:nvSpPr>
          <p:spPr>
            <a:xfrm>
              <a:off x="914400" y="4023360"/>
              <a:ext cx="10058400" cy="40011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spcAft>
                  <a:spcPts val="600"/>
                </a:spcAft>
                <a:defRPr sz="2000" b="1">
                  <a:solidFill>
                    <a:srgbClr val="020202"/>
                  </a:solidFill>
                  <a:latin typeface="Calibri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 of Computer Science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554EE61-8526-F79F-9E91-8F16C7D6D4D4}"/>
                </a:ext>
              </a:extLst>
            </p:cNvPr>
            <p:cNvSpPr txBox="1"/>
            <p:nvPr/>
          </p:nvSpPr>
          <p:spPr>
            <a:xfrm>
              <a:off x="914400" y="4480560"/>
              <a:ext cx="10058400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spcAft>
                  <a:spcPts val="480"/>
                </a:spcAft>
                <a:defRPr sz="1600" b="0">
                  <a:solidFill>
                    <a:srgbClr val="404040"/>
                  </a:solidFill>
                  <a:latin typeface="Calibri"/>
                </a:defRPr>
              </a:pPr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Course: Compiler Design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004FA28-B7D8-0D4D-BAD4-E06D6ABA95F1}"/>
                </a:ext>
              </a:extLst>
            </p:cNvPr>
            <p:cNvSpPr txBox="1"/>
            <p:nvPr/>
          </p:nvSpPr>
          <p:spPr>
            <a:xfrm>
              <a:off x="914400" y="4846320"/>
              <a:ext cx="10058400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spcAft>
                  <a:spcPts val="480"/>
                </a:spcAft>
                <a:defRPr sz="1600" b="0">
                  <a:solidFill>
                    <a:srgbClr val="404040"/>
                  </a:solidFill>
                  <a:latin typeface="Calibri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Submitted to: </a:t>
              </a:r>
              <a:r>
                <a:rPr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Dr.K</a:t>
              </a: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S.</a:t>
              </a: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Lakshmi Prasanna Mam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92666DD-DE8E-DB50-EBA1-D2FE4CD5A3EF}"/>
                </a:ext>
              </a:extLst>
            </p:cNvPr>
            <p:cNvSpPr/>
            <p:nvPr/>
          </p:nvSpPr>
          <p:spPr>
            <a:xfrm>
              <a:off x="4085925" y="5349811"/>
              <a:ext cx="3931920" cy="27432"/>
            </a:xfrm>
            <a:prstGeom prst="rect">
              <a:avLst/>
            </a:prstGeom>
            <a:solidFill>
              <a:srgbClr val="9D1547"/>
            </a:solidFill>
            <a:ln>
              <a:solidFill>
                <a:srgbClr val="9D154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A7E14A8-5AFC-1841-F6B1-0C33FB175504}"/>
                </a:ext>
              </a:extLst>
            </p:cNvPr>
            <p:cNvSpPr txBox="1"/>
            <p:nvPr/>
          </p:nvSpPr>
          <p:spPr>
            <a:xfrm>
              <a:off x="914400" y="5486400"/>
              <a:ext cx="10058400" cy="30777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spcAft>
                  <a:spcPts val="840"/>
                </a:spcAft>
                <a:defRPr sz="1400">
                  <a:solidFill>
                    <a:srgbClr val="606060"/>
                  </a:solidFill>
                  <a:latin typeface="Calibri"/>
                </a:defRPr>
              </a:pPr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A.Surendra Naidu (23004)  |  G.Mohnish Kumar (23013)  |  K.Mokshagna (22502)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1062</TotalTime>
  <Words>1929</Words>
  <Application>Microsoft Office PowerPoint</Application>
  <PresentationFormat>Widescreen</PresentationFormat>
  <Paragraphs>310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Wingdings</vt:lpstr>
      <vt:lpstr>Office Theme</vt:lpstr>
      <vt:lpstr>Translating Human-Readable Pseudo Code into C, C++, and Java (PSEUDO CODE TO SOURCE CODE GENERATOR)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Research Paper Interest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Kumudini</dc:creator>
  <cp:lastModifiedBy>Mohnish Krishna Sai Kumar</cp:lastModifiedBy>
  <cp:revision>23</cp:revision>
  <dcterms:created xsi:type="dcterms:W3CDTF">2026-01-08T13:23:02Z</dcterms:created>
  <dcterms:modified xsi:type="dcterms:W3CDTF">2026-02-28T06:36:50Z</dcterms:modified>
</cp:coreProperties>
</file>